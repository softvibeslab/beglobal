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6583680" cy="1554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4600" b="1">
                <a:solidFill>
                  <a:srgbClr val="FFFFFF"/>
                </a:solidFill>
                <a:latin typeface="Aptos Display"/>
              </a:defRPr>
            </a:pPr>
            <a:r>
              <a:t>BE GLOBAL</a:t>
            </a:r>
            <a:br/>
            <a:r>
              <a:t>COMMERCE 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2331720"/>
            <a:ext cx="81381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000" b="0">
                <a:solidFill>
                  <a:srgbClr val="CBD5E1"/>
                </a:solidFill>
                <a:latin typeface="Aptos"/>
              </a:defRPr>
            </a:pPr>
            <a:r>
              <a:t>Sistema Inteligente de Ecommerce, Academia, CRM, Tiendas Privadas y Comercio Conversacional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3246120"/>
            <a:ext cx="4206240" cy="384048"/>
          </a:xfrm>
          <a:prstGeom prst="roundRect">
            <a:avLst/>
          </a:prstGeom>
          <a:solidFill>
            <a:srgbClr val="00A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Propuesta estratégica para Allan + Be Global Pro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0" y="914400"/>
            <a:ext cx="4343400" cy="749808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1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253728" y="1051560"/>
            <a:ext cx="73152" cy="475488"/>
          </a:xfrm>
          <a:prstGeom prst="roundRect">
            <a:avLst/>
          </a:prstGeom>
          <a:solidFill>
            <a:srgbClr val="00A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64040" y="1097280"/>
            <a:ext cx="388620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 Display"/>
              </a:defRPr>
            </a:pPr>
            <a:r>
              <a:t>Academia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292840" y="1691640"/>
            <a:ext cx="0" cy="182879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9144000" y="1965960"/>
            <a:ext cx="4343400" cy="749808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1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253728" y="2103120"/>
            <a:ext cx="73152" cy="475488"/>
          </a:xfrm>
          <a:prstGeom prst="roundRect">
            <a:avLst/>
          </a:prstGeom>
          <a:solidFill>
            <a:srgbClr val="76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64040" y="2148840"/>
            <a:ext cx="388620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 Display"/>
              </a:defRPr>
            </a:pPr>
            <a:r>
              <a:t>Agentes IA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292840" y="2743200"/>
            <a:ext cx="0" cy="182879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144000" y="3017520"/>
            <a:ext cx="4343400" cy="749808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1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253728" y="3154679"/>
            <a:ext cx="73152" cy="475488"/>
          </a:xfrm>
          <a:prstGeom prst="roundRect">
            <a:avLst/>
          </a:prstGeom>
          <a:solidFill>
            <a:srgbClr val="40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64040" y="3200400"/>
            <a:ext cx="388620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 Display"/>
              </a:defRPr>
            </a:pPr>
            <a:r>
              <a:t>CRM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292840" y="3794760"/>
            <a:ext cx="0" cy="182879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144000" y="4069079"/>
            <a:ext cx="4343400" cy="749808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1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253728" y="4206240"/>
            <a:ext cx="73152" cy="475488"/>
          </a:xfrm>
          <a:prstGeom prst="roundRect">
            <a:avLst/>
          </a:prstGeom>
          <a:solidFill>
            <a:srgbClr val="24C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64040" y="4251959"/>
            <a:ext cx="388620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 Display"/>
              </a:defRPr>
            </a:pPr>
            <a:r>
              <a:t>Tiendas privadas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1292840" y="4846320"/>
            <a:ext cx="0" cy="18288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144000" y="5120640"/>
            <a:ext cx="4343400" cy="749808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1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253728" y="5257800"/>
            <a:ext cx="73152" cy="475488"/>
          </a:xfrm>
          <a:prstGeom prst="round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64040" y="5303520"/>
            <a:ext cx="388620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 Display"/>
              </a:defRPr>
            </a:pPr>
            <a:r>
              <a:t>Telegram / Marketplace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989320"/>
            <a:ext cx="7498079" cy="868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No presentamos “un bot”.</a:t>
            </a:r>
            <a:br/>
            <a:r>
              <a:t>Presentamos la evolución de Be Global hacia una infraestructura comercial inteligente.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21440" y="7818120"/>
            <a:ext cx="24688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0">
                <a:solidFill>
                  <a:srgbClr val="5B687C"/>
                </a:solidFill>
                <a:latin typeface="Aptos"/>
              </a:defRPr>
            </a:pPr>
            <a:r>
              <a:t>Be Global Commerce OS  ·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3200" b="1">
                <a:solidFill>
                  <a:srgbClr val="181E2A"/>
                </a:solidFill>
                <a:latin typeface="Aptos Display"/>
              </a:defRPr>
            </a:pPr>
            <a:r>
              <a:t>La tesis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78408"/>
            <a:ext cx="10789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5B687C"/>
                </a:solidFill>
                <a:latin typeface="Aptos"/>
              </a:defRPr>
            </a:pPr>
            <a:r>
              <a:t>De academia/comunidad a sistema operativo de comercio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658368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300" b="1">
                <a:solidFill>
                  <a:srgbClr val="181E2A"/>
                </a:solidFill>
                <a:latin typeface="Aptos Display"/>
              </a:defRPr>
            </a:pPr>
            <a:r>
              <a:t>Be Global ya tiene lo más difícil: confianza, audiencia, conocimiento, contenido y movimiento comercial.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606040"/>
            <a:ext cx="3977639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2688" y="2743200"/>
            <a:ext cx="73152" cy="731520"/>
          </a:xfrm>
          <a:prstGeom prst="roundRect">
            <a:avLst/>
          </a:prstGeom>
          <a:solidFill>
            <a:srgbClr val="00A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788920"/>
            <a:ext cx="41148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1800" b="1">
                <a:solidFill>
                  <a:srgbClr val="00AEB5"/>
                </a:solidFill>
                <a:latin typeface="Aptos Display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788920"/>
            <a:ext cx="3063239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181E2A"/>
                </a:solidFill>
                <a:latin typeface="Aptos Display"/>
              </a:defRPr>
            </a:pPr>
            <a:r>
              <a:t>educa a la comunidad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49240" y="2606040"/>
            <a:ext cx="3977639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58968" y="2743200"/>
            <a:ext cx="73152" cy="731520"/>
          </a:xfrm>
          <a:prstGeom prst="roundRect">
            <a:avLst/>
          </a:prstGeom>
          <a:solidFill>
            <a:srgbClr val="76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2788920"/>
            <a:ext cx="41148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1800" b="1">
                <a:solidFill>
                  <a:srgbClr val="765CFF"/>
                </a:solidFill>
                <a:latin typeface="Aptos Display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788920"/>
            <a:ext cx="3063239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181E2A"/>
                </a:solidFill>
                <a:latin typeface="Aptos Display"/>
              </a:defRPr>
            </a:pPr>
            <a:r>
              <a:t>recomienda productos y oportunidades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0" y="2606040"/>
            <a:ext cx="3977639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985248" y="2743200"/>
            <a:ext cx="73152" cy="731520"/>
          </a:xfrm>
          <a:prstGeom prst="roundRect">
            <a:avLst/>
          </a:prstGeom>
          <a:solidFill>
            <a:srgbClr val="40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95560" y="2788920"/>
            <a:ext cx="41148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1800" b="1">
                <a:solidFill>
                  <a:srgbClr val="407EFF"/>
                </a:solidFill>
                <a:latin typeface="Aptos Display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52760" y="2788920"/>
            <a:ext cx="3063239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181E2A"/>
                </a:solidFill>
                <a:latin typeface="Aptos Display"/>
              </a:defRPr>
            </a:pPr>
            <a:r>
              <a:t>califica prospectos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114800"/>
            <a:ext cx="3977639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2688" y="4251960"/>
            <a:ext cx="73152" cy="731520"/>
          </a:xfrm>
          <a:prstGeom prst="roundRect">
            <a:avLst/>
          </a:prstGeom>
          <a:solidFill>
            <a:srgbClr val="24C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4297680"/>
            <a:ext cx="41148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1800" b="1">
                <a:solidFill>
                  <a:srgbClr val="24C486"/>
                </a:solidFill>
                <a:latin typeface="Aptos Display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297680"/>
            <a:ext cx="3063239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181E2A"/>
                </a:solidFill>
                <a:latin typeface="Aptos Display"/>
              </a:defRPr>
            </a:pPr>
            <a:r>
              <a:t>activa tiendas privadas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49240" y="4114800"/>
            <a:ext cx="3977639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58968" y="4251960"/>
            <a:ext cx="73152" cy="731520"/>
          </a:xfrm>
          <a:prstGeom prst="round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0" y="4297680"/>
            <a:ext cx="41148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1800" b="1">
                <a:solidFill>
                  <a:srgbClr val="FFB84D"/>
                </a:solidFill>
                <a:latin typeface="Aptos Display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4297680"/>
            <a:ext cx="3063239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181E2A"/>
                </a:solidFill>
                <a:latin typeface="Aptos Display"/>
              </a:defRPr>
            </a:pPr>
            <a:r>
              <a:t>mide intención y seguimiento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75520" y="4114800"/>
            <a:ext cx="3977639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985248" y="4251960"/>
            <a:ext cx="73152" cy="731520"/>
          </a:xfrm>
          <a:prstGeom prst="roundRect">
            <a:avLst/>
          </a:prstGeom>
          <a:solidFill>
            <a:srgbClr val="FF7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95560" y="4297680"/>
            <a:ext cx="41148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1800" b="1">
                <a:solidFill>
                  <a:srgbClr val="FF7457"/>
                </a:solidFill>
                <a:latin typeface="Aptos Display"/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52760" y="4297680"/>
            <a:ext cx="3063239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181E2A"/>
                </a:solidFill>
                <a:latin typeface="Aptos Display"/>
              </a:defRPr>
            </a:pPr>
            <a:r>
              <a:t>aprende de cada interacción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6446520"/>
            <a:ext cx="123444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2400" b="1">
                <a:solidFill>
                  <a:srgbClr val="00AEB5"/>
                </a:solidFill>
                <a:latin typeface="Aptos Display"/>
              </a:defRPr>
            </a:pPr>
            <a:r>
              <a:t>La oportunidad no es vender más información. Es convertir educación + ofertas + conversación en un sistema medible.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21440" y="7818120"/>
            <a:ext cx="24688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0">
                <a:solidFill>
                  <a:srgbClr val="5B687C"/>
                </a:solidFill>
                <a:latin typeface="Aptos"/>
              </a:defRPr>
            </a:pPr>
            <a:r>
              <a:t>Be Global Commerce OS  ·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3200" b="1">
                <a:solidFill>
                  <a:srgbClr val="181E2A"/>
                </a:solidFill>
                <a:latin typeface="Aptos Display"/>
              </a:defRPr>
            </a:pPr>
            <a:r>
              <a:t>Be Global ya tiene piezas que otros tardarían años en construir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78408"/>
            <a:ext cx="10789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5B687C"/>
                </a:solidFill>
                <a:latin typeface="Aptos"/>
              </a:defRPr>
            </a:pPr>
            <a:r>
              <a:t>Mapa de activos actuales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00200"/>
            <a:ext cx="306324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04088" y="1737360"/>
            <a:ext cx="73152" cy="932688"/>
          </a:xfrm>
          <a:prstGeom prst="roundRect">
            <a:avLst/>
          </a:prstGeom>
          <a:solidFill>
            <a:srgbClr val="00A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60604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181E2A"/>
                </a:solidFill>
                <a:latin typeface="Aptos Display"/>
              </a:defRPr>
            </a:pPr>
            <a:r>
              <a:t>Audiencia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21992"/>
            <a:ext cx="26060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60" b="0">
                <a:solidFill>
                  <a:srgbClr val="5B687C"/>
                </a:solidFill>
                <a:latin typeface="Aptos"/>
              </a:defRPr>
            </a:pPr>
            <a:r>
              <a:t>Alcance, seguidores, comunidad compradora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600200"/>
            <a:ext cx="306324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78808" y="1737360"/>
            <a:ext cx="73152" cy="932688"/>
          </a:xfrm>
          <a:prstGeom prst="roundRect">
            <a:avLst/>
          </a:prstGeom>
          <a:solidFill>
            <a:srgbClr val="76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783080"/>
            <a:ext cx="260604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181E2A"/>
                </a:solidFill>
                <a:latin typeface="Aptos Display"/>
              </a:defRPr>
            </a:pPr>
            <a:r>
              <a:t>Autoridad Allan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221992"/>
            <a:ext cx="26060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60" b="0">
                <a:solidFill>
                  <a:srgbClr val="5B687C"/>
                </a:solidFill>
                <a:latin typeface="Aptos"/>
              </a:defRPr>
            </a:pPr>
            <a:r>
              <a:t>Confianza, historia, ecommerce, propósito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1600200"/>
            <a:ext cx="306324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653527" y="1737360"/>
            <a:ext cx="73152" cy="932688"/>
          </a:xfrm>
          <a:prstGeom prst="roundRect">
            <a:avLst/>
          </a:prstGeom>
          <a:solidFill>
            <a:srgbClr val="40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1783080"/>
            <a:ext cx="260604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181E2A"/>
                </a:solidFill>
                <a:latin typeface="Aptos Display"/>
              </a:defRPr>
            </a:pPr>
            <a:r>
              <a:t>Academia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221992"/>
            <a:ext cx="26060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60" b="0">
                <a:solidFill>
                  <a:srgbClr val="5B687C"/>
                </a:solidFill>
                <a:latin typeface="Aptos"/>
              </a:defRPr>
            </a:pPr>
            <a:r>
              <a:t>Cursos, rutas, mentoría, comunidad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018519" y="1600200"/>
            <a:ext cx="306324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128247" y="1737360"/>
            <a:ext cx="73152" cy="932688"/>
          </a:xfrm>
          <a:prstGeom prst="roundRect">
            <a:avLst/>
          </a:prstGeom>
          <a:solidFill>
            <a:srgbClr val="24C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38559" y="1783080"/>
            <a:ext cx="260604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181E2A"/>
                </a:solidFill>
                <a:latin typeface="Aptos Display"/>
              </a:defRPr>
            </a:pPr>
            <a:r>
              <a:t>Leads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59" y="2221992"/>
            <a:ext cx="26060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60" b="0">
                <a:solidFill>
                  <a:srgbClr val="5B687C"/>
                </a:solidFill>
                <a:latin typeface="Aptos"/>
              </a:defRPr>
            </a:pPr>
            <a:r>
              <a:t>DMs, formularios, webinars, interés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246120"/>
            <a:ext cx="306324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04088" y="3383279"/>
            <a:ext cx="73152" cy="932688"/>
          </a:xfrm>
          <a:prstGeom prst="round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429000"/>
            <a:ext cx="260604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181E2A"/>
                </a:solidFill>
                <a:latin typeface="Aptos Display"/>
              </a:defRPr>
            </a:pPr>
            <a:r>
              <a:t>Contenido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867911"/>
            <a:ext cx="26060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60" b="0">
                <a:solidFill>
                  <a:srgbClr val="5B687C"/>
                </a:solidFill>
                <a:latin typeface="Aptos"/>
              </a:defRPr>
            </a:pPr>
            <a:r>
              <a:t>Reels, lives, podcast, ideas, CTAs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69080" y="3246120"/>
            <a:ext cx="306324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178808" y="3383279"/>
            <a:ext cx="73152" cy="932688"/>
          </a:xfrm>
          <a:prstGeom prst="roundRect">
            <a:avLst/>
          </a:prstGeom>
          <a:solidFill>
            <a:srgbClr val="FF7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3429000"/>
            <a:ext cx="260604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181E2A"/>
                </a:solidFill>
                <a:latin typeface="Aptos Display"/>
              </a:defRPr>
            </a:pPr>
            <a:r>
              <a:t>Equipo comercial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3867911"/>
            <a:ext cx="26060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60" b="0">
                <a:solidFill>
                  <a:srgbClr val="5B687C"/>
                </a:solidFill>
                <a:latin typeface="Aptos"/>
              </a:defRPr>
            </a:pPr>
            <a:r>
              <a:t>Respuestas, cierres, asesoría, seguimiento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43800" y="3246120"/>
            <a:ext cx="306324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653527" y="3383279"/>
            <a:ext cx="73152" cy="932688"/>
          </a:xfrm>
          <a:prstGeom prst="roundRect">
            <a:avLst/>
          </a:prstGeom>
          <a:solidFill>
            <a:srgbClr val="EE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0" y="3429000"/>
            <a:ext cx="260604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181E2A"/>
                </a:solidFill>
                <a:latin typeface="Aptos Display"/>
              </a:defRPr>
            </a:pPr>
            <a:r>
              <a:t>Ofertas / catálogo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3867911"/>
            <a:ext cx="26060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60" b="0">
                <a:solidFill>
                  <a:srgbClr val="5B687C"/>
                </a:solidFill>
                <a:latin typeface="Aptos"/>
              </a:defRPr>
            </a:pPr>
            <a:r>
              <a:t>Productos, afiliados, oportunidades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018519" y="3246120"/>
            <a:ext cx="306324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1128247" y="3383279"/>
            <a:ext cx="73152" cy="932688"/>
          </a:xfrm>
          <a:prstGeom prst="roundRect">
            <a:avLst/>
          </a:prstGeom>
          <a:solidFill>
            <a:srgbClr val="00A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338559" y="3429000"/>
            <a:ext cx="260604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181E2A"/>
                </a:solidFill>
                <a:latin typeface="Aptos Display"/>
              </a:defRPr>
            </a:pPr>
            <a:r>
              <a:t>Telegram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59" y="3867911"/>
            <a:ext cx="26060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60" b="0">
                <a:solidFill>
                  <a:srgbClr val="5B687C"/>
                </a:solidFill>
                <a:latin typeface="Aptos"/>
              </a:defRPr>
            </a:pPr>
            <a:r>
              <a:t>Atención compradora y velocidad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5669280"/>
            <a:ext cx="123444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2400" b="1">
                <a:solidFill>
                  <a:srgbClr val="181E2A"/>
                </a:solidFill>
                <a:latin typeface="Aptos Display"/>
              </a:defRPr>
            </a:pPr>
            <a:r>
              <a:t>Insight: el activo no es una pieza aislada; el valor aparece cuando todas las piezas se conectan.</a:t>
            </a:r>
          </a:p>
        </p:txBody>
      </p:sp>
      <p:sp>
        <p:nvSpPr>
          <p:cNvPr id="37" name="Oval 36"/>
          <p:cNvSpPr/>
          <p:nvPr/>
        </p:nvSpPr>
        <p:spPr>
          <a:xfrm>
            <a:off x="6355080" y="6446520"/>
            <a:ext cx="1051560" cy="1051560"/>
          </a:xfrm>
          <a:prstGeom prst="ellipse">
            <a:avLst/>
          </a:prstGeom>
          <a:solidFill>
            <a:srgbClr val="0D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DATA</a:t>
            </a:r>
          </a:p>
        </p:txBody>
      </p:sp>
      <p:cxnSp>
        <p:nvCxnSpPr>
          <p:cNvPr id="38" name="Connector 37"/>
          <p:cNvCxnSpPr/>
          <p:nvPr/>
        </p:nvCxnSpPr>
        <p:spPr>
          <a:xfrm flipV="1">
            <a:off x="6858000" y="5806440"/>
            <a:ext cx="0" cy="365760"/>
          </a:xfrm>
          <a:prstGeom prst="line">
            <a:avLst/>
          </a:prstGeom>
          <a:ln w="25400">
            <a:solidFill>
              <a:srgbClr val="00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1521440" y="7818120"/>
            <a:ext cx="24688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0">
                <a:solidFill>
                  <a:srgbClr val="5B687C"/>
                </a:solidFill>
                <a:latin typeface="Aptos"/>
              </a:defRPr>
            </a:pPr>
            <a:r>
              <a:t>Be Global Commerce OS  ·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3200" b="1">
                <a:solidFill>
                  <a:srgbClr val="181E2A"/>
                </a:solidFill>
                <a:latin typeface="Aptos Display"/>
              </a:defRPr>
            </a:pPr>
            <a:r>
              <a:t>La evolución de la propuesta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78408"/>
            <a:ext cx="10789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5B687C"/>
                </a:solidFill>
                <a:latin typeface="Aptos"/>
              </a:defRPr>
            </a:pPr>
            <a:r>
              <a:t>De “agentes IA” a “ecosistema comercial”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56692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24128" y="1783080"/>
            <a:ext cx="73152" cy="3931920"/>
          </a:xfrm>
          <a:prstGeom prst="roundRect">
            <a:avLst/>
          </a:prstGeom>
          <a:solidFill>
            <a:srgbClr val="00A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1828800"/>
            <a:ext cx="521208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181E2A"/>
                </a:solidFill>
                <a:latin typeface="Aptos Display"/>
              </a:defRPr>
            </a:pPr>
            <a:r>
              <a:t>Presentación actual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267712"/>
            <a:ext cx="5212080" cy="34564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60" b="0">
                <a:solidFill>
                  <a:srgbClr val="5B687C"/>
                </a:solidFill>
                <a:latin typeface="Aptos"/>
              </a:defRPr>
            </a:pPr>
            <a:r>
              <a:t>• Agente Allan</a:t>
            </a:r>
            <a:br/>
            <a:r>
              <a:t>• Agente comercial interno</a:t>
            </a:r>
            <a:br/>
            <a:r>
              <a:t>• Do With You / Do For You</a:t>
            </a:r>
            <a:br/>
            <a:r>
              <a:t>• Objeciones, contenido, roleplay</a:t>
            </a:r>
            <a:br/>
            <a:r>
              <a:t>• Foco: escalar respuestas y equipo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645920"/>
            <a:ext cx="56692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65007" y="1783080"/>
            <a:ext cx="73152" cy="3931920"/>
          </a:xfrm>
          <a:prstGeom prst="roundRect">
            <a:avLst/>
          </a:prstGeom>
          <a:solidFill>
            <a:srgbClr val="76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19" y="1828800"/>
            <a:ext cx="521208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181E2A"/>
                </a:solidFill>
                <a:latin typeface="Aptos Display"/>
              </a:defRPr>
            </a:pPr>
            <a:r>
              <a:t>Nueva visión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19" y="2267712"/>
            <a:ext cx="5212080" cy="34564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60" b="0">
                <a:solidFill>
                  <a:srgbClr val="5B687C"/>
                </a:solidFill>
                <a:latin typeface="Aptos"/>
              </a:defRPr>
            </a:pPr>
            <a:r>
              <a:t>• Academia + activación</a:t>
            </a:r>
            <a:br/>
            <a:r>
              <a:t>• CRM como cerebro</a:t>
            </a:r>
            <a:br/>
            <a:r>
              <a:t>• Tiendas privadas optimizadas</a:t>
            </a:r>
            <a:br/>
            <a:r>
              <a:t>• Telegram como canal de intención</a:t>
            </a:r>
            <a:br/>
            <a:r>
              <a:t>• Marketplace conversacional</a:t>
            </a:r>
            <a:br/>
            <a:r>
              <a:t>• Foco: escalar negocio completo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720840" y="3749039"/>
            <a:ext cx="1097280" cy="0"/>
          </a:xfrm>
          <a:prstGeom prst="line">
            <a:avLst/>
          </a:prstGeom>
          <a:ln w="38100">
            <a:solidFill>
              <a:srgbClr val="FF74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251960" y="6355080"/>
            <a:ext cx="6217920" cy="384048"/>
          </a:xfrm>
          <a:prstGeom prst="roundRect">
            <a:avLst/>
          </a:prstGeom>
          <a:solidFill>
            <a:srgbClr val="FF7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Los agentes son una capa del sistema, no todo el sistema.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7818120"/>
            <a:ext cx="24688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0">
                <a:solidFill>
                  <a:srgbClr val="5B687C"/>
                </a:solidFill>
                <a:latin typeface="Aptos"/>
              </a:defRPr>
            </a:pPr>
            <a:r>
              <a:t>Be Global Commerce OS  ·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3200" b="1">
                <a:solidFill>
                  <a:srgbClr val="181E2A"/>
                </a:solidFill>
                <a:latin typeface="Aptos Display"/>
              </a:defRPr>
            </a:pPr>
            <a:r>
              <a:t>El bottleneck actual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78408"/>
            <a:ext cx="10789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5B687C"/>
                </a:solidFill>
                <a:latin typeface="Aptos"/>
              </a:defRPr>
            </a:pPr>
            <a:r>
              <a:t>El problema no es falta de activos; es falta de conexión</a:t>
            </a:r>
          </a:p>
        </p:txBody>
      </p:sp>
      <p:sp>
        <p:nvSpPr>
          <p:cNvPr id="4" name="Trapezoid 3"/>
          <p:cNvSpPr/>
          <p:nvPr/>
        </p:nvSpPr>
        <p:spPr>
          <a:xfrm>
            <a:off x="1280160" y="1325880"/>
            <a:ext cx="12070080" cy="502920"/>
          </a:xfrm>
          <a:prstGeom prst="trapezoid">
            <a:avLst/>
          </a:prstGeom>
          <a:solidFill>
            <a:srgbClr val="00A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426464"/>
            <a:ext cx="120700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Contenido</a:t>
            </a:r>
          </a:p>
        </p:txBody>
      </p:sp>
      <p:sp>
        <p:nvSpPr>
          <p:cNvPr id="6" name="Trapezoid 5"/>
          <p:cNvSpPr/>
          <p:nvPr/>
        </p:nvSpPr>
        <p:spPr>
          <a:xfrm>
            <a:off x="2011680" y="2039112"/>
            <a:ext cx="10607040" cy="502920"/>
          </a:xfrm>
          <a:prstGeom prst="trapezoid">
            <a:avLst/>
          </a:prstGeom>
          <a:solidFill>
            <a:srgbClr val="40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2139696"/>
            <a:ext cx="106070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Interés</a:t>
            </a:r>
          </a:p>
        </p:txBody>
      </p:sp>
      <p:sp>
        <p:nvSpPr>
          <p:cNvPr id="8" name="Trapezoid 7"/>
          <p:cNvSpPr/>
          <p:nvPr/>
        </p:nvSpPr>
        <p:spPr>
          <a:xfrm>
            <a:off x="2743200" y="2752344"/>
            <a:ext cx="9144000" cy="502920"/>
          </a:xfrm>
          <a:prstGeom prst="trapezoid">
            <a:avLst/>
          </a:prstGeom>
          <a:solidFill>
            <a:srgbClr val="76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2852927"/>
            <a:ext cx="91440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Pregunta</a:t>
            </a:r>
          </a:p>
        </p:txBody>
      </p:sp>
      <p:sp>
        <p:nvSpPr>
          <p:cNvPr id="10" name="Trapezoid 9"/>
          <p:cNvSpPr/>
          <p:nvPr/>
        </p:nvSpPr>
        <p:spPr>
          <a:xfrm>
            <a:off x="3337560" y="3465576"/>
            <a:ext cx="7955279" cy="502920"/>
          </a:xfrm>
          <a:prstGeom prst="trapezoid">
            <a:avLst/>
          </a:prstGeom>
          <a:solidFill>
            <a:srgbClr val="24C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3566160"/>
            <a:ext cx="7955279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Diagnóstico</a:t>
            </a:r>
          </a:p>
        </p:txBody>
      </p:sp>
      <p:sp>
        <p:nvSpPr>
          <p:cNvPr id="12" name="Trapezoid 11"/>
          <p:cNvSpPr/>
          <p:nvPr/>
        </p:nvSpPr>
        <p:spPr>
          <a:xfrm>
            <a:off x="4023360" y="4178808"/>
            <a:ext cx="6583680" cy="502920"/>
          </a:xfrm>
          <a:prstGeom prst="trapezoid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60" y="4279392"/>
            <a:ext cx="65836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Oferta</a:t>
            </a:r>
          </a:p>
        </p:txBody>
      </p:sp>
      <p:sp>
        <p:nvSpPr>
          <p:cNvPr id="14" name="Trapezoid 13"/>
          <p:cNvSpPr/>
          <p:nvPr/>
        </p:nvSpPr>
        <p:spPr>
          <a:xfrm>
            <a:off x="4617720" y="4892040"/>
            <a:ext cx="5394960" cy="502920"/>
          </a:xfrm>
          <a:prstGeom prst="trapezoid">
            <a:avLst/>
          </a:prstGeom>
          <a:solidFill>
            <a:srgbClr val="FF7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4992624"/>
            <a:ext cx="539496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Compra / Activación</a:t>
            </a:r>
          </a:p>
        </p:txBody>
      </p:sp>
      <p:sp>
        <p:nvSpPr>
          <p:cNvPr id="16" name="Trapezoid 15"/>
          <p:cNvSpPr/>
          <p:nvPr/>
        </p:nvSpPr>
        <p:spPr>
          <a:xfrm>
            <a:off x="5212080" y="5605272"/>
            <a:ext cx="4206240" cy="502920"/>
          </a:xfrm>
          <a:prstGeom prst="trapezoid">
            <a:avLst/>
          </a:prstGeom>
          <a:solidFill>
            <a:srgbClr val="EE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5705856"/>
            <a:ext cx="42062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Seguimiento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" y="2423160"/>
            <a:ext cx="2926080" cy="384048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Leads se enfrían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24160" y="3017520"/>
            <a:ext cx="2926080" cy="384048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Respuestas inconsistentes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34440" y="3749039"/>
            <a:ext cx="2926080" cy="384048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Data perdida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15600" y="4572000"/>
            <a:ext cx="2926080" cy="384048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Sin ruta de upsell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508760" y="5349240"/>
            <a:ext cx="2926080" cy="384048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Soporte repetitivo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6720840"/>
            <a:ext cx="1207008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2200" b="1">
                <a:solidFill>
                  <a:srgbClr val="181E2A"/>
                </a:solidFill>
                <a:latin typeface="Aptos Display"/>
              </a:defRPr>
            </a:pPr>
            <a:r>
              <a:t>Sin CRM + IA + rutas claras, la demanda entra… pero no siempre se convierte en aprendizaje, venta o relación.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1440" y="7818120"/>
            <a:ext cx="24688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0">
                <a:solidFill>
                  <a:srgbClr val="5B687C"/>
                </a:solidFill>
                <a:latin typeface="Aptos"/>
              </a:defRPr>
            </a:pPr>
            <a:r>
              <a:t>Be Global Commerce OS  ·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3200" b="1">
                <a:solidFill>
                  <a:srgbClr val="181E2A"/>
                </a:solidFill>
                <a:latin typeface="Aptos Display"/>
              </a:defRPr>
            </a:pPr>
            <a:r>
              <a:t>La oportunidad estratégica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78408"/>
            <a:ext cx="10789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5B687C"/>
                </a:solidFill>
                <a:latin typeface="Aptos"/>
              </a:defRPr>
            </a:pPr>
            <a:r>
              <a:t>Convertir cada interacción en data, venta y relación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29400" y="1417319"/>
            <a:ext cx="1371600" cy="384048"/>
          </a:xfrm>
          <a:prstGeom prst="roundRect">
            <a:avLst/>
          </a:prstGeom>
          <a:solidFill>
            <a:srgbClr val="00A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Contenido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80921" y="2260808"/>
            <a:ext cx="1371600" cy="384048"/>
          </a:xfrm>
          <a:prstGeom prst="roundRect">
            <a:avLst/>
          </a:prstGeom>
          <a:solidFill>
            <a:srgbClr val="76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Conversación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13511" y="4156109"/>
            <a:ext cx="1371600" cy="384048"/>
          </a:xfrm>
          <a:prstGeom prst="roundRect">
            <a:avLst/>
          </a:prstGeom>
          <a:solidFill>
            <a:srgbClr val="40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Diagnóstico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01421" y="5676022"/>
            <a:ext cx="1371600" cy="384048"/>
          </a:xfrm>
          <a:prstGeom prst="roundRect">
            <a:avLst/>
          </a:prstGeom>
          <a:solidFill>
            <a:srgbClr val="24C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Oferta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57378" y="5676022"/>
            <a:ext cx="1371600" cy="384048"/>
          </a:xfrm>
          <a:prstGeom prst="round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Compra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45288" y="4156109"/>
            <a:ext cx="1371600" cy="384048"/>
          </a:xfrm>
          <a:prstGeom prst="roundRect">
            <a:avLst/>
          </a:prstGeom>
          <a:solidFill>
            <a:srgbClr val="FF7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CRM /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77878" y="2260808"/>
            <a:ext cx="1371600" cy="384048"/>
          </a:xfrm>
          <a:prstGeom prst="roundRect">
            <a:avLst/>
          </a:prstGeom>
          <a:solidFill>
            <a:srgbClr val="EE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Nueva campaña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15200" y="1737359"/>
            <a:ext cx="1751521" cy="843489"/>
          </a:xfrm>
          <a:prstGeom prst="line">
            <a:avLst/>
          </a:prstGeom>
          <a:ln w="19050">
            <a:solidFill>
              <a:srgbClr val="788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066721" y="2580848"/>
            <a:ext cx="432590" cy="1895301"/>
          </a:xfrm>
          <a:prstGeom prst="line">
            <a:avLst/>
          </a:prstGeom>
          <a:ln w="19050">
            <a:solidFill>
              <a:srgbClr val="788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8287221" y="4476149"/>
            <a:ext cx="1212090" cy="1519913"/>
          </a:xfrm>
          <a:prstGeom prst="line">
            <a:avLst/>
          </a:prstGeom>
          <a:ln w="19050">
            <a:solidFill>
              <a:srgbClr val="788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6343178" y="5996062"/>
            <a:ext cx="1944043" cy="0"/>
          </a:xfrm>
          <a:prstGeom prst="line">
            <a:avLst/>
          </a:prstGeom>
          <a:ln w="19050">
            <a:solidFill>
              <a:srgbClr val="788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5131088" y="4476149"/>
            <a:ext cx="1212090" cy="1519913"/>
          </a:xfrm>
          <a:prstGeom prst="line">
            <a:avLst/>
          </a:prstGeom>
          <a:ln w="19050">
            <a:solidFill>
              <a:srgbClr val="788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131088" y="2580848"/>
            <a:ext cx="432590" cy="1895301"/>
          </a:xfrm>
          <a:prstGeom prst="line">
            <a:avLst/>
          </a:prstGeom>
          <a:ln w="19050">
            <a:solidFill>
              <a:srgbClr val="788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5563678" y="1737359"/>
            <a:ext cx="1751522" cy="843489"/>
          </a:xfrm>
          <a:prstGeom prst="line">
            <a:avLst/>
          </a:prstGeom>
          <a:ln w="19050">
            <a:solidFill>
              <a:srgbClr val="788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6355080" y="3017520"/>
            <a:ext cx="1920240" cy="1920240"/>
          </a:xfrm>
          <a:prstGeom prst="ellipse">
            <a:avLst/>
          </a:prstGeom>
          <a:solidFill>
            <a:srgbClr val="0D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Commerce</a:t>
            </a:r>
            <a:br/>
            <a:r>
              <a:t>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148840"/>
            <a:ext cx="3749039" cy="2194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900" b="1">
                <a:solidFill>
                  <a:srgbClr val="181E2A"/>
                </a:solidFill>
                <a:latin typeface="Aptos Display"/>
              </a:defRPr>
            </a:pPr>
            <a:r>
              <a:t>Cada oferta enseña qué quiere la comunidad.</a:t>
            </a:r>
            <a:br/>
            <a:r>
              <a:t>Cada pregunta mejora los agentes.</a:t>
            </a:r>
            <a:br/>
            <a:r>
              <a:t>Cada clic mejora segmentación.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60" y="2423160"/>
            <a:ext cx="3474720" cy="1828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000" b="1">
                <a:solidFill>
                  <a:srgbClr val="00AEB5"/>
                </a:solidFill>
                <a:latin typeface="Aptos Display"/>
              </a:defRPr>
            </a:pPr>
            <a:r>
              <a:t>La ventaja competitiva no es solo automatizar: es acumular inteligencia comercial propia.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0" y="7818120"/>
            <a:ext cx="24688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0">
                <a:solidFill>
                  <a:srgbClr val="5B687C"/>
                </a:solidFill>
                <a:latin typeface="Aptos"/>
              </a:defRPr>
            </a:pPr>
            <a:r>
              <a:t>Be Global Commerce OS  ·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3200" b="1">
                <a:solidFill>
                  <a:srgbClr val="181E2A"/>
                </a:solidFill>
                <a:latin typeface="Aptos Display"/>
              </a:defRPr>
            </a:pPr>
            <a:r>
              <a:t>Arquitectura del ecosistema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78408"/>
            <a:ext cx="10789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5B687C"/>
                </a:solidFill>
                <a:latin typeface="Aptos"/>
              </a:defRPr>
            </a:pPr>
            <a:r>
              <a:t>Be Global Commerce OS en capas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325880"/>
            <a:ext cx="124358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07007" y="1463039"/>
            <a:ext cx="73152" cy="502920"/>
          </a:xfrm>
          <a:prstGeom prst="roundRect">
            <a:avLst/>
          </a:prstGeom>
          <a:solidFill>
            <a:srgbClr val="00A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19" y="1508760"/>
            <a:ext cx="1197864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181E2A"/>
                </a:solidFill>
                <a:latin typeface="Aptos Display"/>
              </a:defRPr>
            </a:pPr>
            <a:r>
              <a:t>Frontstage: comunidad y demanda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19" y="1947672"/>
            <a:ext cx="11978640" cy="274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60" b="0">
                <a:solidFill>
                  <a:srgbClr val="5B687C"/>
                </a:solidFill>
                <a:latin typeface="Aptos"/>
              </a:defRPr>
            </a:pPr>
            <a:r>
              <a:t>Instagram / TikTok / Telegram / Lives / Landing pages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15200" y="2084831"/>
            <a:ext cx="0" cy="201169"/>
          </a:xfrm>
          <a:prstGeom prst="line">
            <a:avLst/>
          </a:prstGeom>
          <a:ln w="1778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097280" y="2377439"/>
            <a:ext cx="124358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07007" y="2514599"/>
            <a:ext cx="73152" cy="502920"/>
          </a:xfrm>
          <a:prstGeom prst="roundRect">
            <a:avLst/>
          </a:prstGeom>
          <a:solidFill>
            <a:srgbClr val="76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19" y="2560320"/>
            <a:ext cx="1197864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181E2A"/>
                </a:solidFill>
                <a:latin typeface="Aptos Display"/>
              </a:defRPr>
            </a:pPr>
            <a:r>
              <a:t>Inteligencia: agentes 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2999232"/>
            <a:ext cx="11978640" cy="274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60" b="0">
                <a:solidFill>
                  <a:srgbClr val="5B687C"/>
                </a:solidFill>
                <a:latin typeface="Aptos"/>
              </a:defRPr>
            </a:pPr>
            <a:r>
              <a:t>diagnóstico, recomendaciones, ventas, soporte, contenido, insights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0" y="3136391"/>
            <a:ext cx="0" cy="201169"/>
          </a:xfrm>
          <a:prstGeom prst="line">
            <a:avLst/>
          </a:prstGeom>
          <a:ln w="1778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97280" y="3429000"/>
            <a:ext cx="124358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207007" y="3566160"/>
            <a:ext cx="73152" cy="502920"/>
          </a:xfrm>
          <a:prstGeom prst="roundRect">
            <a:avLst/>
          </a:prstGeom>
          <a:solidFill>
            <a:srgbClr val="40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19" y="3611880"/>
            <a:ext cx="1197864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181E2A"/>
                </a:solidFill>
                <a:latin typeface="Aptos Display"/>
              </a:defRPr>
            </a:pPr>
            <a:r>
              <a:t>Sistema nervioso: CRM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19" y="4050791"/>
            <a:ext cx="11978640" cy="274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60" b="0">
                <a:solidFill>
                  <a:srgbClr val="5B687C"/>
                </a:solidFill>
                <a:latin typeface="Aptos"/>
              </a:defRPr>
            </a:pPr>
            <a:r>
              <a:t>contactos, intereses, etapas, objeciones, tareas, ventas, permisos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315200" y="4187952"/>
            <a:ext cx="0" cy="201168"/>
          </a:xfrm>
          <a:prstGeom prst="line">
            <a:avLst/>
          </a:prstGeom>
          <a:ln w="1778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97280" y="4480559"/>
            <a:ext cx="124358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207007" y="4617720"/>
            <a:ext cx="73152" cy="502920"/>
          </a:xfrm>
          <a:prstGeom prst="roundRect">
            <a:avLst/>
          </a:prstGeom>
          <a:solidFill>
            <a:srgbClr val="24C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17319" y="4663440"/>
            <a:ext cx="1197864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181E2A"/>
                </a:solidFill>
                <a:latin typeface="Aptos Display"/>
              </a:defRPr>
            </a:pPr>
            <a:r>
              <a:t>Ejecución: academia + tiendas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19" y="5102351"/>
            <a:ext cx="11978640" cy="274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60" b="0">
                <a:solidFill>
                  <a:srgbClr val="5B687C"/>
                </a:solidFill>
                <a:latin typeface="Aptos"/>
              </a:defRPr>
            </a:pPr>
            <a:r>
              <a:t>rutas, playbooks, stores privadas, catálogo, afiliados, campañas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315200" y="5239512"/>
            <a:ext cx="0" cy="201167"/>
          </a:xfrm>
          <a:prstGeom prst="line">
            <a:avLst/>
          </a:prstGeom>
          <a:ln w="1778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97280" y="5532120"/>
            <a:ext cx="124358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207007" y="5669280"/>
            <a:ext cx="73152" cy="502920"/>
          </a:xfrm>
          <a:prstGeom prst="round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19" y="5715000"/>
            <a:ext cx="1197864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181E2A"/>
                </a:solidFill>
                <a:latin typeface="Aptos Display"/>
              </a:defRPr>
            </a:pPr>
            <a:r>
              <a:t>Reporting: aprendizaje continuo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19" y="6153912"/>
            <a:ext cx="11978640" cy="274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60" b="0">
                <a:solidFill>
                  <a:srgbClr val="5B687C"/>
                </a:solidFill>
                <a:latin typeface="Aptos"/>
              </a:defRPr>
            </a:pPr>
            <a:r>
              <a:t>dashboards, cohortes, revenue, productos ganadores, oportunidades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6903720"/>
            <a:ext cx="1051560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2000" b="1">
                <a:solidFill>
                  <a:srgbClr val="0D182C"/>
                </a:solidFill>
                <a:latin typeface="Aptos Display"/>
              </a:defRPr>
            </a:pPr>
            <a:r>
              <a:t>Principio: manual primero, medible desde el inicio, automatizado después.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21440" y="7818120"/>
            <a:ext cx="24688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0">
                <a:solidFill>
                  <a:srgbClr val="5B687C"/>
                </a:solidFill>
                <a:latin typeface="Aptos"/>
              </a:defRPr>
            </a:pPr>
            <a:r>
              <a:t>Be Global Commerce OS  ·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3200" b="1">
                <a:solidFill>
                  <a:srgbClr val="181E2A"/>
                </a:solidFill>
                <a:latin typeface="Aptos Display"/>
              </a:defRPr>
            </a:pPr>
            <a:r>
              <a:t>Journey del usuario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78408"/>
            <a:ext cx="10789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5B687C"/>
                </a:solidFill>
                <a:latin typeface="Aptos"/>
              </a:defRPr>
            </a:pPr>
            <a:r>
              <a:t>Una experiencia simple: aprender, encontrar, comprar y revender</a:t>
            </a:r>
          </a:p>
        </p:txBody>
      </p:sp>
      <p:sp>
        <p:nvSpPr>
          <p:cNvPr id="4" name="Oval 3"/>
          <p:cNvSpPr/>
          <p:nvPr/>
        </p:nvSpPr>
        <p:spPr>
          <a:xfrm>
            <a:off x="502920" y="2331720"/>
            <a:ext cx="914400" cy="914400"/>
          </a:xfrm>
          <a:prstGeom prst="ellipse">
            <a:avLst/>
          </a:prstGeom>
          <a:solidFill>
            <a:srgbClr val="00A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3429000"/>
            <a:ext cx="15544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1">
                <a:solidFill>
                  <a:srgbClr val="181E2A"/>
                </a:solidFill>
                <a:latin typeface="Aptos"/>
              </a:defRPr>
            </a:pPr>
            <a:r>
              <a:t>Ve contenido</a:t>
            </a:r>
            <a:br/>
            <a:r>
              <a:t>o una oferta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463040" y="2788920"/>
            <a:ext cx="502920" cy="0"/>
          </a:xfrm>
          <a:prstGeom prst="line">
            <a:avLst/>
          </a:prstGeom>
          <a:ln w="25400">
            <a:solidFill>
              <a:srgbClr val="6E7D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2487168" y="2331720"/>
            <a:ext cx="914400" cy="914400"/>
          </a:xfrm>
          <a:prstGeom prst="ellipse">
            <a:avLst/>
          </a:prstGeom>
          <a:solidFill>
            <a:srgbClr val="76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85415" y="3429000"/>
            <a:ext cx="15544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1">
                <a:solidFill>
                  <a:srgbClr val="181E2A"/>
                </a:solidFill>
                <a:latin typeface="Aptos"/>
              </a:defRPr>
            </a:pPr>
            <a:r>
              <a:t>Entra a Telegram</a:t>
            </a:r>
            <a:br/>
            <a:r>
              <a:t>o landing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447287" y="2788920"/>
            <a:ext cx="502921" cy="0"/>
          </a:xfrm>
          <a:prstGeom prst="line">
            <a:avLst/>
          </a:prstGeom>
          <a:ln w="25400">
            <a:solidFill>
              <a:srgbClr val="6E7D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4471416" y="2331720"/>
            <a:ext cx="914400" cy="914400"/>
          </a:xfrm>
          <a:prstGeom prst="ellipse">
            <a:avLst/>
          </a:prstGeom>
          <a:solidFill>
            <a:srgbClr val="40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9663" y="3429000"/>
            <a:ext cx="15544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1">
                <a:solidFill>
                  <a:srgbClr val="181E2A"/>
                </a:solidFill>
                <a:latin typeface="Aptos"/>
              </a:defRPr>
            </a:pPr>
            <a:r>
              <a:t>Habla con</a:t>
            </a:r>
            <a:br/>
            <a:r>
              <a:t>un agente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31536" y="2788920"/>
            <a:ext cx="502920" cy="0"/>
          </a:xfrm>
          <a:prstGeom prst="line">
            <a:avLst/>
          </a:prstGeom>
          <a:ln w="25400">
            <a:solidFill>
              <a:srgbClr val="6E7D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6455664" y="2331720"/>
            <a:ext cx="914400" cy="914400"/>
          </a:xfrm>
          <a:prstGeom prst="ellipse">
            <a:avLst/>
          </a:prstGeom>
          <a:solidFill>
            <a:srgbClr val="24C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3912" y="3429000"/>
            <a:ext cx="15544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1">
                <a:solidFill>
                  <a:srgbClr val="181E2A"/>
                </a:solidFill>
                <a:latin typeface="Aptos"/>
              </a:defRPr>
            </a:pPr>
            <a:r>
              <a:t>Recibe</a:t>
            </a:r>
            <a:br/>
            <a:r>
              <a:t>diagnóstico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415783" y="2788920"/>
            <a:ext cx="502921" cy="0"/>
          </a:xfrm>
          <a:prstGeom prst="line">
            <a:avLst/>
          </a:prstGeom>
          <a:ln w="25400">
            <a:solidFill>
              <a:srgbClr val="6E7D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8439912" y="2331720"/>
            <a:ext cx="914400" cy="914400"/>
          </a:xfrm>
          <a:prstGeom prst="ellipse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3429000"/>
            <a:ext cx="15544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1">
                <a:solidFill>
                  <a:srgbClr val="181E2A"/>
                </a:solidFill>
                <a:latin typeface="Aptos"/>
              </a:defRPr>
            </a:pPr>
            <a:r>
              <a:t>Accede a tier</a:t>
            </a:r>
            <a:br/>
            <a:r>
              <a:t>correcto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400032" y="2788920"/>
            <a:ext cx="502920" cy="0"/>
          </a:xfrm>
          <a:prstGeom prst="line">
            <a:avLst/>
          </a:prstGeom>
          <a:ln w="25400">
            <a:solidFill>
              <a:srgbClr val="6E7D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10424160" y="2331720"/>
            <a:ext cx="914400" cy="914400"/>
          </a:xfrm>
          <a:prstGeom prst="ellipse">
            <a:avLst/>
          </a:prstGeom>
          <a:solidFill>
            <a:srgbClr val="FF7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22408" y="3429000"/>
            <a:ext cx="15544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1">
                <a:solidFill>
                  <a:srgbClr val="181E2A"/>
                </a:solidFill>
                <a:latin typeface="Aptos"/>
              </a:defRPr>
            </a:pPr>
            <a:r>
              <a:t>Compra / vende</a:t>
            </a:r>
            <a:br/>
            <a:r>
              <a:t>/ revende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1384280" y="2788920"/>
            <a:ext cx="502920" cy="0"/>
          </a:xfrm>
          <a:prstGeom prst="line">
            <a:avLst/>
          </a:prstGeom>
          <a:ln w="25400">
            <a:solidFill>
              <a:srgbClr val="6E7D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12408408" y="2331720"/>
            <a:ext cx="914400" cy="914400"/>
          </a:xfrm>
          <a:prstGeom prst="ellipse">
            <a:avLst/>
          </a:prstGeom>
          <a:solidFill>
            <a:srgbClr val="EE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06656" y="3429000"/>
            <a:ext cx="15544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1">
                <a:solidFill>
                  <a:srgbClr val="181E2A"/>
                </a:solidFill>
                <a:latin typeface="Aptos"/>
              </a:defRPr>
            </a:pPr>
            <a:r>
              <a:t>CRM da</a:t>
            </a:r>
            <a:br/>
            <a:r>
              <a:t>seguimiento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" y="4754880"/>
            <a:ext cx="39319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15568" y="4892040"/>
            <a:ext cx="73152" cy="1051560"/>
          </a:xfrm>
          <a:prstGeom prst="roundRect">
            <a:avLst/>
          </a:prstGeom>
          <a:solidFill>
            <a:srgbClr val="00A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25880" y="4937760"/>
            <a:ext cx="347472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181E2A"/>
                </a:solidFill>
                <a:latin typeface="Aptos Display"/>
              </a:defRPr>
            </a:pPr>
            <a:r>
              <a:t>Usuario siente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5376672"/>
            <a:ext cx="3474720" cy="5760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60" b="0">
                <a:solidFill>
                  <a:srgbClr val="5B687C"/>
                </a:solidFill>
                <a:latin typeface="Aptos"/>
              </a:defRPr>
            </a:pPr>
            <a:r>
              <a:t>acompañamiento, claridad, productos relevantes y próximos pasos simples.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49240" y="4754880"/>
            <a:ext cx="39319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458968" y="4892040"/>
            <a:ext cx="73152" cy="1051560"/>
          </a:xfrm>
          <a:prstGeom prst="roundRect">
            <a:avLst/>
          </a:prstGeom>
          <a:solidFill>
            <a:srgbClr val="76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79" y="4937760"/>
            <a:ext cx="347472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181E2A"/>
                </a:solidFill>
                <a:latin typeface="Aptos Display"/>
              </a:defRPr>
            </a:pPr>
            <a:r>
              <a:t>Be Global recibe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79" y="5376672"/>
            <a:ext cx="3474720" cy="5760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60" b="0">
                <a:solidFill>
                  <a:srgbClr val="5B687C"/>
                </a:solidFill>
                <a:latin typeface="Aptos"/>
              </a:defRPr>
            </a:pPr>
            <a:r>
              <a:t>perfil, interés, objeciones, clicks, etapa y oportunidad de venta.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92640" y="4754880"/>
            <a:ext cx="39319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802367" y="4892040"/>
            <a:ext cx="73152" cy="1051560"/>
          </a:xfrm>
          <a:prstGeom prst="roundRect">
            <a:avLst/>
          </a:prstGeom>
          <a:solidFill>
            <a:srgbClr val="24C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12680" y="4937760"/>
            <a:ext cx="347472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181E2A"/>
                </a:solidFill>
                <a:latin typeface="Aptos Display"/>
              </a:defRPr>
            </a:pPr>
            <a:r>
              <a:t>Sistema aprende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12680" y="5376672"/>
            <a:ext cx="3474720" cy="5760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60" b="0">
                <a:solidFill>
                  <a:srgbClr val="5B687C"/>
                </a:solidFill>
                <a:latin typeface="Aptos"/>
              </a:defRPr>
            </a:pPr>
            <a:r>
              <a:t>qué contenido, oferta, nicho y mensaje convierte mejor.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521440" y="7818120"/>
            <a:ext cx="24688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0">
                <a:solidFill>
                  <a:srgbClr val="5B687C"/>
                </a:solidFill>
                <a:latin typeface="Aptos"/>
              </a:defRPr>
            </a:pPr>
            <a:r>
              <a:t>Be Global Commerce OS  ·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3200" b="1">
                <a:solidFill>
                  <a:srgbClr val="181E2A"/>
                </a:solidFill>
                <a:latin typeface="Aptos Display"/>
              </a:defRPr>
            </a:pPr>
            <a:r>
              <a:t>Experiencia para Be Global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78408"/>
            <a:ext cx="10789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5B687C"/>
                </a:solidFill>
                <a:latin typeface="Aptos"/>
              </a:defRPr>
            </a:pPr>
            <a:r>
              <a:t>De operación manual a inteligencia comercial acumulativa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13075920" cy="6080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86968" y="1371600"/>
            <a:ext cx="73152" cy="5806440"/>
          </a:xfrm>
          <a:prstGeom prst="roundRect">
            <a:avLst/>
          </a:prstGeom>
          <a:solidFill>
            <a:srgbClr val="00A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17320"/>
            <a:ext cx="1261872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181E2A"/>
                </a:solidFill>
                <a:latin typeface="Aptos Display"/>
              </a:defRPr>
            </a:pPr>
            <a:r>
              <a:t>Dashboard Ejecutivo — mockup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1874519"/>
            <a:ext cx="365760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2039112"/>
            <a:ext cx="20116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00" b="0">
                <a:solidFill>
                  <a:srgbClr val="5B687C"/>
                </a:solidFill>
                <a:latin typeface="Aptos"/>
              </a:defRPr>
            </a:pPr>
            <a:r>
              <a:t>Leads nuevos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313432"/>
            <a:ext cx="320040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00AEB5"/>
                </a:solidFill>
                <a:latin typeface="Aptos Display"/>
              </a:defRPr>
            </a:pPr>
            <a:r>
              <a:t>1,284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1874519"/>
            <a:ext cx="365760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0" y="2039112"/>
            <a:ext cx="20116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00" b="0">
                <a:solidFill>
                  <a:srgbClr val="5B687C"/>
                </a:solidFill>
                <a:latin typeface="Aptos"/>
              </a:defRPr>
            </a:pPr>
            <a:r>
              <a:t>Diagnósticos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313432"/>
            <a:ext cx="320040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765CFF"/>
                </a:solidFill>
                <a:latin typeface="Aptos Display"/>
              </a:defRPr>
            </a:pPr>
            <a:r>
              <a:t>436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64040" y="1874519"/>
            <a:ext cx="365760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46919" y="2039112"/>
            <a:ext cx="20116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00" b="0">
                <a:solidFill>
                  <a:srgbClr val="5B687C"/>
                </a:solidFill>
                <a:latin typeface="Aptos"/>
              </a:defRPr>
            </a:pPr>
            <a:r>
              <a:t>CTR ofertas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46919" y="2313432"/>
            <a:ext cx="320040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407EFF"/>
                </a:solidFill>
                <a:latin typeface="Aptos Display"/>
              </a:defRPr>
            </a:pPr>
            <a:r>
              <a:t>18.7%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200400"/>
            <a:ext cx="365760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3364992"/>
            <a:ext cx="20116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00" b="0">
                <a:solidFill>
                  <a:srgbClr val="5B687C"/>
                </a:solidFill>
                <a:latin typeface="Aptos"/>
              </a:defRPr>
            </a:pPr>
            <a:r>
              <a:t>Productos top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639312"/>
            <a:ext cx="320040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24C486"/>
                </a:solidFill>
                <a:latin typeface="Aptos Display"/>
              </a:defRPr>
            </a:pPr>
            <a:r>
              <a:t>Gadgets / Hogar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0" y="3200400"/>
            <a:ext cx="365760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0" y="3364992"/>
            <a:ext cx="20116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00" b="0">
                <a:solidFill>
                  <a:srgbClr val="5B687C"/>
                </a:solidFill>
                <a:latin typeface="Aptos"/>
              </a:defRPr>
            </a:pPr>
            <a:r>
              <a:t>Objeción #1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639312"/>
            <a:ext cx="320040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FF7457"/>
                </a:solidFill>
                <a:latin typeface="Aptos Display"/>
              </a:defRPr>
            </a:pPr>
            <a:r>
              <a:t>“No tengo experiencia”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64040" y="3200400"/>
            <a:ext cx="365760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46919" y="3364992"/>
            <a:ext cx="20116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00" b="0">
                <a:solidFill>
                  <a:srgbClr val="5B687C"/>
                </a:solidFill>
                <a:latin typeface="Aptos"/>
              </a:defRPr>
            </a:pPr>
            <a:r>
              <a:t>Revenue campaña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46919" y="3639312"/>
            <a:ext cx="320040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FFB84D"/>
                </a:solidFill>
                <a:latin typeface="Aptos Display"/>
              </a:defRPr>
            </a:pPr>
            <a:r>
              <a:t>$---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892040"/>
            <a:ext cx="118872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00" b="0">
                <a:solidFill>
                  <a:srgbClr val="5B687C"/>
                </a:solidFill>
                <a:latin typeface="Aptos"/>
              </a:defRPr>
            </a:pPr>
            <a:r>
              <a:t>Telegram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23160" y="4910328"/>
            <a:ext cx="2834640" cy="164592"/>
          </a:xfrm>
          <a:prstGeom prst="rect">
            <a:avLst/>
          </a:prstGeom>
          <a:solidFill>
            <a:srgbClr val="00A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5303520"/>
            <a:ext cx="118872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00" b="0">
                <a:solidFill>
                  <a:srgbClr val="5B687C"/>
                </a:solidFill>
                <a:latin typeface="Aptos"/>
              </a:defRPr>
            </a:pPr>
            <a:r>
              <a:t>Instagram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23160" y="5321808"/>
            <a:ext cx="2194560" cy="164592"/>
          </a:xfrm>
          <a:prstGeom prst="rect">
            <a:avLst/>
          </a:prstGeom>
          <a:solidFill>
            <a:srgbClr val="76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5715000"/>
            <a:ext cx="118872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00" b="0">
                <a:solidFill>
                  <a:srgbClr val="5B687C"/>
                </a:solidFill>
                <a:latin typeface="Aptos"/>
              </a:defRPr>
            </a:pPr>
            <a:r>
              <a:t>Academia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23160" y="5733288"/>
            <a:ext cx="1463040" cy="164592"/>
          </a:xfrm>
          <a:prstGeom prst="rect">
            <a:avLst/>
          </a:prstGeom>
          <a:solidFill>
            <a:srgbClr val="24C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4800600"/>
            <a:ext cx="5852160" cy="868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600" b="1">
                <a:solidFill>
                  <a:srgbClr val="181E2A"/>
                </a:solidFill>
                <a:latin typeface="Aptos Display"/>
              </a:defRPr>
            </a:pPr>
            <a:r>
              <a:t>El dashboard responde: ¿qué quiere la gente?, ¿qué producto mueve intención?, ¿qué lead debe recibir follow-up?, ¿qué tier conviene ofrecer?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21440" y="7818120"/>
            <a:ext cx="24688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0">
                <a:solidFill>
                  <a:srgbClr val="5B687C"/>
                </a:solidFill>
                <a:latin typeface="Aptos"/>
              </a:defRPr>
            </a:pPr>
            <a:r>
              <a:t>Be Global Commerce OS  ·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3200" b="1">
                <a:solidFill>
                  <a:srgbClr val="181E2A"/>
                </a:solidFill>
                <a:latin typeface="Aptos Display"/>
              </a:defRPr>
            </a:pPr>
            <a:r>
              <a:t>Equipo digital especializado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78408"/>
            <a:ext cx="10789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5B687C"/>
                </a:solidFill>
                <a:latin typeface="Aptos"/>
              </a:defRPr>
            </a:pPr>
            <a:r>
              <a:t>No es un chatbot: es un sistema de agentes con roles</a:t>
            </a:r>
          </a:p>
        </p:txBody>
      </p:sp>
      <p:sp>
        <p:nvSpPr>
          <p:cNvPr id="4" name="Oval 3"/>
          <p:cNvSpPr/>
          <p:nvPr/>
        </p:nvSpPr>
        <p:spPr>
          <a:xfrm>
            <a:off x="6492240" y="1417320"/>
            <a:ext cx="1645920" cy="1645920"/>
          </a:xfrm>
          <a:prstGeom prst="ellipse">
            <a:avLst/>
          </a:prstGeom>
          <a:solidFill>
            <a:srgbClr val="0D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Agente</a:t>
            </a:r>
            <a:br/>
            <a:r>
              <a:t>Allan</a:t>
            </a:r>
          </a:p>
        </p:txBody>
      </p:sp>
      <p:sp>
        <p:nvSpPr>
          <p:cNvPr id="5" name="Oval 4"/>
          <p:cNvSpPr/>
          <p:nvPr/>
        </p:nvSpPr>
        <p:spPr>
          <a:xfrm>
            <a:off x="3749039" y="1097280"/>
            <a:ext cx="1234440" cy="1234440"/>
          </a:xfrm>
          <a:prstGeom prst="ellipse">
            <a:avLst/>
          </a:prstGeom>
          <a:solidFill>
            <a:srgbClr val="00A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Diagnóstico</a:t>
            </a:r>
          </a:p>
        </p:txBody>
      </p:sp>
      <p:cxnSp>
        <p:nvCxnSpPr>
          <p:cNvPr id="6" name="Connector 5"/>
          <p:cNvCxnSpPr/>
          <p:nvPr/>
        </p:nvCxnSpPr>
        <p:spPr>
          <a:xfrm flipH="1" flipV="1">
            <a:off x="4370831" y="1719072"/>
            <a:ext cx="2944369" cy="521208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9418320" y="1097280"/>
            <a:ext cx="1234440" cy="1234440"/>
          </a:xfrm>
          <a:prstGeom prst="ellipse">
            <a:avLst/>
          </a:prstGeom>
          <a:solidFill>
            <a:srgbClr val="76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Comercial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7315200" y="1719072"/>
            <a:ext cx="2724912" cy="521208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011680" y="3017520"/>
            <a:ext cx="1234440" cy="1234440"/>
          </a:xfrm>
          <a:prstGeom prst="ellipse">
            <a:avLst/>
          </a:prstGeom>
          <a:solidFill>
            <a:srgbClr val="40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Academia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2633472" y="2240280"/>
            <a:ext cx="4681728" cy="1399032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0881360" y="3017520"/>
            <a:ext cx="1234440" cy="1234440"/>
          </a:xfrm>
          <a:prstGeom prst="ellipse">
            <a:avLst/>
          </a:prstGeom>
          <a:solidFill>
            <a:srgbClr val="24C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Producto / Ofertas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315200" y="2240280"/>
            <a:ext cx="4187952" cy="1399032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108960" y="5074920"/>
            <a:ext cx="1234440" cy="1234440"/>
          </a:xfrm>
          <a:prstGeom prst="ellipse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Telegram Premium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3730752" y="2240280"/>
            <a:ext cx="3584448" cy="3456432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9784080" y="5074920"/>
            <a:ext cx="1234440" cy="1234440"/>
          </a:xfrm>
          <a:prstGeom prst="ellipse">
            <a:avLst/>
          </a:prstGeom>
          <a:solidFill>
            <a:srgbClr val="FF7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Store Setup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315200" y="2240280"/>
            <a:ext cx="3090672" cy="3456432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492240" y="5806440"/>
            <a:ext cx="1234440" cy="1234440"/>
          </a:xfrm>
          <a:prstGeom prst="ellipse">
            <a:avLst/>
          </a:prstGeom>
          <a:solidFill>
            <a:srgbClr val="EE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Reporting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7114031" y="2240280"/>
            <a:ext cx="201169" cy="4187951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371600" y="7086600"/>
            <a:ext cx="11887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800" b="1">
                <a:solidFill>
                  <a:srgbClr val="181E2A"/>
                </a:solidFill>
                <a:latin typeface="Aptos Display"/>
              </a:defRPr>
            </a:pPr>
            <a:r>
              <a:t>Cada agente tiene una función comercial concreta: captar, diagnosticar, vender, activar, recomendar, operar o reportar.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0" y="7818120"/>
            <a:ext cx="24688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0">
                <a:solidFill>
                  <a:srgbClr val="5B687C"/>
                </a:solidFill>
                <a:latin typeface="Aptos"/>
              </a:defRPr>
            </a:pPr>
            <a:r>
              <a:t>Be Global Commerce OS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3200" b="1">
                <a:solidFill>
                  <a:srgbClr val="181E2A"/>
                </a:solidFill>
                <a:latin typeface="Aptos Display"/>
              </a:defRPr>
            </a:pPr>
            <a:r>
              <a:t>CRM como cerebro del crecimiento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78408"/>
            <a:ext cx="10789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5B687C"/>
                </a:solidFill>
                <a:latin typeface="Aptos"/>
              </a:defRPr>
            </a:pPr>
            <a:r>
              <a:t>Pipeline de atención → diagnóstico → monetización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5087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1965960"/>
            <a:ext cx="73152" cy="868680"/>
          </a:xfrm>
          <a:prstGeom prst="roundRect">
            <a:avLst/>
          </a:prstGeom>
          <a:solidFill>
            <a:srgbClr val="00A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19" y="2011680"/>
            <a:ext cx="10515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181E2A"/>
                </a:solidFill>
                <a:latin typeface="Aptos Display"/>
              </a:defRPr>
            </a:pPr>
            <a:r>
              <a:t>Nuevo</a:t>
            </a:r>
            <a:br/>
            <a:r>
              <a:t>lead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67128" y="2404872"/>
            <a:ext cx="374904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606039" y="1828800"/>
            <a:ext cx="15087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15768" y="1965960"/>
            <a:ext cx="73152" cy="868680"/>
          </a:xfrm>
          <a:prstGeom prst="roundRect">
            <a:avLst/>
          </a:prstGeom>
          <a:solidFill>
            <a:srgbClr val="76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79" y="2011680"/>
            <a:ext cx="10515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181E2A"/>
                </a:solidFill>
                <a:latin typeface="Aptos Display"/>
              </a:defRPr>
            </a:pPr>
            <a:r>
              <a:t>Diagnóstico</a:t>
            </a:r>
            <a:br/>
            <a:r>
              <a:t>iniciado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33087" y="2404872"/>
            <a:ext cx="374905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572000" y="1828800"/>
            <a:ext cx="15087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81728" y="1965960"/>
            <a:ext cx="73152" cy="868680"/>
          </a:xfrm>
          <a:prstGeom prst="roundRect">
            <a:avLst/>
          </a:prstGeom>
          <a:solidFill>
            <a:srgbClr val="40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2011680"/>
            <a:ext cx="10515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181E2A"/>
                </a:solidFill>
                <a:latin typeface="Aptos Display"/>
              </a:defRPr>
            </a:pPr>
            <a:r>
              <a:t>Perfil</a:t>
            </a:r>
            <a:br/>
            <a:r>
              <a:t>completo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99048" y="2404872"/>
            <a:ext cx="374904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537959" y="1828800"/>
            <a:ext cx="15087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647688" y="1965960"/>
            <a:ext cx="73152" cy="868680"/>
          </a:xfrm>
          <a:prstGeom prst="roundRect">
            <a:avLst/>
          </a:prstGeom>
          <a:solidFill>
            <a:srgbClr val="24C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7999" y="2011680"/>
            <a:ext cx="10515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181E2A"/>
                </a:solidFill>
                <a:latin typeface="Aptos Display"/>
              </a:defRPr>
            </a:pPr>
            <a:r>
              <a:t>Tier</a:t>
            </a:r>
            <a:br/>
            <a:r>
              <a:t>recomendado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065008" y="2404872"/>
            <a:ext cx="374904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503919" y="1828800"/>
            <a:ext cx="15087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613647" y="1965960"/>
            <a:ext cx="73152" cy="868680"/>
          </a:xfrm>
          <a:prstGeom prst="round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23959" y="2011680"/>
            <a:ext cx="10515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181E2A"/>
                </a:solidFill>
                <a:latin typeface="Aptos Display"/>
              </a:defRPr>
            </a:pPr>
            <a:r>
              <a:t>Oferta</a:t>
            </a:r>
            <a:br/>
            <a:r>
              <a:t>presentada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030967" y="2404872"/>
            <a:ext cx="374905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469880" y="1828800"/>
            <a:ext cx="15087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579607" y="1965960"/>
            <a:ext cx="73152" cy="868680"/>
          </a:xfrm>
          <a:prstGeom prst="roundRect">
            <a:avLst/>
          </a:prstGeom>
          <a:solidFill>
            <a:srgbClr val="FF7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89919" y="2011680"/>
            <a:ext cx="10515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181E2A"/>
                </a:solidFill>
                <a:latin typeface="Aptos Display"/>
              </a:defRPr>
            </a:pPr>
            <a:r>
              <a:t>Activado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1996928" y="2404872"/>
            <a:ext cx="374904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2435839" y="1828800"/>
            <a:ext cx="15087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2545567" y="1965960"/>
            <a:ext cx="73152" cy="868680"/>
          </a:xfrm>
          <a:prstGeom prst="roundRect">
            <a:avLst/>
          </a:prstGeom>
          <a:solidFill>
            <a:srgbClr val="EE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755879" y="2011680"/>
            <a:ext cx="10515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181E2A"/>
                </a:solidFill>
                <a:latin typeface="Aptos Display"/>
              </a:defRPr>
            </a:pPr>
            <a:r>
              <a:t>Upsell /</a:t>
            </a:r>
            <a:br/>
            <a:r>
              <a:t>Partner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0120" y="4023360"/>
            <a:ext cx="2148840" cy="384048"/>
          </a:xfrm>
          <a:prstGeom prst="roundRect">
            <a:avLst/>
          </a:prstGeom>
          <a:solidFill>
            <a:srgbClr val="00A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Fuente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57600" y="4023360"/>
            <a:ext cx="2148840" cy="384048"/>
          </a:xfrm>
          <a:prstGeom prst="roundRect">
            <a:avLst/>
          </a:prstGeom>
          <a:solidFill>
            <a:srgbClr val="76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Consentimiento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55080" y="4023360"/>
            <a:ext cx="2148840" cy="384048"/>
          </a:xfrm>
          <a:prstGeom prst="roundRect">
            <a:avLst/>
          </a:prstGeom>
          <a:solidFill>
            <a:srgbClr val="40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Interés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52560" y="4023360"/>
            <a:ext cx="2148840" cy="384048"/>
          </a:xfrm>
          <a:prstGeom prst="roundRect">
            <a:avLst/>
          </a:prstGeom>
          <a:solidFill>
            <a:srgbClr val="24C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Objeciones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750040" y="4023360"/>
            <a:ext cx="2148840" cy="384048"/>
          </a:xfrm>
          <a:prstGeom prst="round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Score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0120" y="4681728"/>
            <a:ext cx="2148840" cy="384048"/>
          </a:xfrm>
          <a:prstGeom prst="roundRect">
            <a:avLst/>
          </a:prstGeom>
          <a:solidFill>
            <a:srgbClr val="00A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Tier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0" y="4681728"/>
            <a:ext cx="2148840" cy="384048"/>
          </a:xfrm>
          <a:prstGeom prst="roundRect">
            <a:avLst/>
          </a:prstGeom>
          <a:solidFill>
            <a:srgbClr val="76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Siguiente acción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55080" y="4681728"/>
            <a:ext cx="2148840" cy="384048"/>
          </a:xfrm>
          <a:prstGeom prst="roundRect">
            <a:avLst/>
          </a:prstGeom>
          <a:solidFill>
            <a:srgbClr val="40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Owner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52560" y="4681728"/>
            <a:ext cx="2148840" cy="384048"/>
          </a:xfrm>
          <a:prstGeom prst="roundRect">
            <a:avLst/>
          </a:prstGeom>
          <a:solidFill>
            <a:srgbClr val="24C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Historial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750040" y="4681728"/>
            <a:ext cx="2148840" cy="384048"/>
          </a:xfrm>
          <a:prstGeom prst="round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Permisos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63040" y="6126480"/>
            <a:ext cx="117043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2400" b="1">
                <a:solidFill>
                  <a:srgbClr val="0D182C"/>
                </a:solidFill>
                <a:latin typeface="Aptos Display"/>
              </a:defRPr>
            </a:pPr>
            <a:r>
              <a:t>Regla de oro: si una conversación no alimenta el CRM, se pierde inteligencia comercial.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521440" y="7818120"/>
            <a:ext cx="24688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0">
                <a:solidFill>
                  <a:srgbClr val="5B687C"/>
                </a:solidFill>
                <a:latin typeface="Aptos"/>
              </a:defRPr>
            </a:pPr>
            <a:r>
              <a:t>Be Global Commerce OS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3200" b="1">
                <a:solidFill>
                  <a:srgbClr val="181E2A"/>
                </a:solidFill>
                <a:latin typeface="Aptos Display"/>
              </a:defRPr>
            </a:pPr>
            <a:r>
              <a:t>Tiers y accesos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78408"/>
            <a:ext cx="10789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5B687C"/>
                </a:solidFill>
                <a:latin typeface="Aptos"/>
              </a:defRPr>
            </a:pPr>
            <a:r>
              <a:t>Escalera de valor: de comunidad a partner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28800"/>
            <a:ext cx="19659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04088" y="1965960"/>
            <a:ext cx="73152" cy="1051560"/>
          </a:xfrm>
          <a:prstGeom prst="roundRect">
            <a:avLst/>
          </a:prstGeom>
          <a:solidFill>
            <a:srgbClr val="00A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5087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181E2A"/>
                </a:solidFill>
                <a:latin typeface="Aptos Display"/>
              </a:defRPr>
            </a:pPr>
            <a:r>
              <a:t>Gratis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50592"/>
            <a:ext cx="1508760" cy="5760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60" b="0">
                <a:solidFill>
                  <a:srgbClr val="5B687C"/>
                </a:solidFill>
                <a:latin typeface="Aptos"/>
              </a:defRPr>
            </a:pPr>
            <a:r>
              <a:t>Canal abierto</a:t>
            </a:r>
            <a:br/>
            <a:r>
              <a:t>lead magnet</a:t>
            </a:r>
            <a:br/>
            <a:r>
              <a:t>registro CRM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79" y="1783080"/>
            <a:ext cx="1965960" cy="1655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035808" y="1920240"/>
            <a:ext cx="73152" cy="1380744"/>
          </a:xfrm>
          <a:prstGeom prst="roundRect">
            <a:avLst/>
          </a:prstGeom>
          <a:solidFill>
            <a:srgbClr val="76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965960"/>
            <a:ext cx="15087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181E2A"/>
                </a:solidFill>
                <a:latin typeface="Aptos Display"/>
              </a:defRPr>
            </a:pPr>
            <a:r>
              <a:t>Starter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404872"/>
            <a:ext cx="1508760" cy="9052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60" b="0">
                <a:solidFill>
                  <a:srgbClr val="5B687C"/>
                </a:solidFill>
                <a:latin typeface="Aptos"/>
              </a:defRPr>
            </a:pPr>
            <a:r>
              <a:t>Academia básica</a:t>
            </a:r>
            <a:br/>
            <a:r>
              <a:t>plantillas</a:t>
            </a:r>
            <a:br/>
            <a:r>
              <a:t>comunidad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57800" y="1737360"/>
            <a:ext cx="1965960" cy="1984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367528" y="1874519"/>
            <a:ext cx="73152" cy="1709928"/>
          </a:xfrm>
          <a:prstGeom prst="roundRect">
            <a:avLst/>
          </a:prstGeom>
          <a:solidFill>
            <a:srgbClr val="40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0" y="1920240"/>
            <a:ext cx="15087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181E2A"/>
                </a:solidFill>
                <a:latin typeface="Aptos Display"/>
              </a:defRPr>
            </a:pPr>
            <a:r>
              <a:t>Pro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2359152"/>
            <a:ext cx="1508760" cy="1234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60" b="0">
                <a:solidFill>
                  <a:srgbClr val="5B687C"/>
                </a:solidFill>
                <a:latin typeface="Aptos"/>
              </a:defRPr>
            </a:pPr>
            <a:r>
              <a:t>Biblioteca ofertas</a:t>
            </a:r>
            <a:br/>
            <a:r>
              <a:t>retos</a:t>
            </a:r>
            <a:br/>
            <a:r>
              <a:t>agente soporte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19" y="1691640"/>
            <a:ext cx="1965960" cy="2313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699247" y="1828800"/>
            <a:ext cx="73152" cy="2039112"/>
          </a:xfrm>
          <a:prstGeom prst="roundRect">
            <a:avLst/>
          </a:prstGeom>
          <a:solidFill>
            <a:srgbClr val="24C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9559" y="1874520"/>
            <a:ext cx="15087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181E2A"/>
                </a:solidFill>
                <a:latin typeface="Aptos Display"/>
              </a:defRPr>
            </a:pPr>
            <a:r>
              <a:t>Elite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59" y="2313432"/>
            <a:ext cx="1508760" cy="1563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60" b="0">
                <a:solidFill>
                  <a:srgbClr val="5B687C"/>
                </a:solidFill>
                <a:latin typeface="Aptos"/>
              </a:defRPr>
            </a:pPr>
            <a:r>
              <a:t>Stores privadas</a:t>
            </a:r>
            <a:br/>
            <a:r>
              <a:t>mentoría</a:t>
            </a:r>
            <a:br/>
            <a:r>
              <a:t>auditorías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21240" y="1645920"/>
            <a:ext cx="1965960" cy="264261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030967" y="1783080"/>
            <a:ext cx="73152" cy="2368296"/>
          </a:xfrm>
          <a:prstGeom prst="round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0" y="1828800"/>
            <a:ext cx="15087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181E2A"/>
                </a:solidFill>
                <a:latin typeface="Aptos Display"/>
              </a:defRPr>
            </a:pPr>
            <a:r>
              <a:t>Partner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2267712"/>
            <a:ext cx="1508760" cy="1892807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60" b="0">
                <a:solidFill>
                  <a:srgbClr val="5B687C"/>
                </a:solidFill>
                <a:latin typeface="Aptos"/>
              </a:defRPr>
            </a:pPr>
            <a:r>
              <a:t>Afiliado operador</a:t>
            </a:r>
            <a:br/>
            <a:r>
              <a:t>tracking</a:t>
            </a:r>
            <a:br/>
            <a:r>
              <a:t>incentivos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252960" y="1600200"/>
            <a:ext cx="196596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2362688" y="1737360"/>
            <a:ext cx="73152" cy="2697480"/>
          </a:xfrm>
          <a:prstGeom prst="roundRect">
            <a:avLst/>
          </a:prstGeom>
          <a:solidFill>
            <a:srgbClr val="FF7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573000" y="1783080"/>
            <a:ext cx="15087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181E2A"/>
                </a:solidFill>
                <a:latin typeface="Aptos Display"/>
              </a:defRPr>
            </a:pPr>
            <a:r>
              <a:t>B2B / VIP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573000" y="2221992"/>
            <a:ext cx="1508760" cy="22219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60" b="0">
                <a:solidFill>
                  <a:srgbClr val="5B687C"/>
                </a:solidFill>
                <a:latin typeface="Aptos"/>
              </a:defRPr>
            </a:pPr>
            <a:r>
              <a:t>Consultoría</a:t>
            </a:r>
            <a:br/>
            <a:r>
              <a:t>CRM + IA</a:t>
            </a:r>
            <a:br/>
            <a:r>
              <a:t>servicios premium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6720840"/>
            <a:ext cx="1243584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2200" b="1">
                <a:solidFill>
                  <a:srgbClr val="181E2A"/>
                </a:solidFill>
                <a:latin typeface="Aptos Display"/>
              </a:defRPr>
            </a:pPr>
            <a:r>
              <a:t>La escalera permite capturar valor en distintos niveles sin obligar a todos a comprar lo mismo.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21440" y="7818120"/>
            <a:ext cx="24688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0">
                <a:solidFill>
                  <a:srgbClr val="5B687C"/>
                </a:solidFill>
                <a:latin typeface="Aptos"/>
              </a:defRPr>
            </a:pPr>
            <a:r>
              <a:t>Be Global Commerce OS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3200" b="1">
                <a:solidFill>
                  <a:srgbClr val="181E2A"/>
                </a:solidFill>
                <a:latin typeface="Aptos Display"/>
              </a:defRPr>
            </a:pPr>
            <a:r>
              <a:t>Ecommerces privadas optimizadas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78408"/>
            <a:ext cx="10789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5B687C"/>
                </a:solidFill>
                <a:latin typeface="Aptos"/>
              </a:defRPr>
            </a:pPr>
            <a:r>
              <a:t>Tiendas/catálogos por nicho, campaña o comunidad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00200"/>
            <a:ext cx="37947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2688" y="1737360"/>
            <a:ext cx="73152" cy="1143000"/>
          </a:xfrm>
          <a:prstGeom prst="roundRect">
            <a:avLst/>
          </a:prstGeom>
          <a:solidFill>
            <a:srgbClr val="00A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83080"/>
            <a:ext cx="33375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181E2A"/>
                </a:solidFill>
                <a:latin typeface="Aptos Display"/>
              </a:defRPr>
            </a:pPr>
            <a:r>
              <a:t>Gadgets trending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221992"/>
            <a:ext cx="3337560" cy="6675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60" b="0">
                <a:solidFill>
                  <a:srgbClr val="5B687C"/>
                </a:solidFill>
                <a:latin typeface="Aptos"/>
              </a:defRPr>
            </a:pPr>
            <a:r>
              <a:t>ofertas virales + copy + link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1837943"/>
            <a:ext cx="1051560" cy="694944"/>
          </a:xfrm>
          <a:prstGeom prst="rect">
            <a:avLst/>
          </a:prstGeom>
          <a:solidFill>
            <a:srgbClr val="EEF2F7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257800" y="1600200"/>
            <a:ext cx="37947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367528" y="1737360"/>
            <a:ext cx="73152" cy="1143000"/>
          </a:xfrm>
          <a:prstGeom prst="roundRect">
            <a:avLst/>
          </a:prstGeom>
          <a:solidFill>
            <a:srgbClr val="76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0" y="1783080"/>
            <a:ext cx="33375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181E2A"/>
                </a:solidFill>
                <a:latin typeface="Aptos Display"/>
              </a:defRPr>
            </a:pPr>
            <a:r>
              <a:t>Hogar inteligente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2221992"/>
            <a:ext cx="3337560" cy="6675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60" b="0">
                <a:solidFill>
                  <a:srgbClr val="5B687C"/>
                </a:solidFill>
                <a:latin typeface="Aptos"/>
              </a:defRPr>
            </a:pPr>
            <a:r>
              <a:t>bundles por necesidad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0" y="1837943"/>
            <a:ext cx="1051560" cy="694944"/>
          </a:xfrm>
          <a:prstGeom prst="rect">
            <a:avLst/>
          </a:prstGeom>
          <a:solidFill>
            <a:srgbClr val="EEF2F7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692640" y="1600200"/>
            <a:ext cx="37947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802367" y="1737360"/>
            <a:ext cx="73152" cy="1143000"/>
          </a:xfrm>
          <a:prstGeom prst="roundRect">
            <a:avLst/>
          </a:prstGeom>
          <a:solidFill>
            <a:srgbClr val="40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12680" y="1783080"/>
            <a:ext cx="33375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181E2A"/>
                </a:solidFill>
                <a:latin typeface="Aptos Display"/>
              </a:defRPr>
            </a:pPr>
            <a:r>
              <a:t>Belleza / wellness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12680" y="2221992"/>
            <a:ext cx="3337560" cy="6675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60" b="0">
                <a:solidFill>
                  <a:srgbClr val="5B687C"/>
                </a:solidFill>
                <a:latin typeface="Aptos"/>
              </a:defRPr>
            </a:pPr>
            <a:r>
              <a:t>kits y temporadas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115800" y="1837943"/>
            <a:ext cx="1051560" cy="694944"/>
          </a:xfrm>
          <a:prstGeom prst="rect">
            <a:avLst/>
          </a:prstGeom>
          <a:solidFill>
            <a:srgbClr val="EEF2F7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3474720"/>
            <a:ext cx="37947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32688" y="3611879"/>
            <a:ext cx="73152" cy="1143000"/>
          </a:xfrm>
          <a:prstGeom prst="roundRect">
            <a:avLst/>
          </a:prstGeom>
          <a:solidFill>
            <a:srgbClr val="24C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3657600"/>
            <a:ext cx="33375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181E2A"/>
                </a:solidFill>
                <a:latin typeface="Aptos Display"/>
              </a:defRPr>
            </a:pPr>
            <a:r>
              <a:t>Back to school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096511"/>
            <a:ext cx="3337560" cy="6675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60" b="0">
                <a:solidFill>
                  <a:srgbClr val="5B687C"/>
                </a:solidFill>
                <a:latin typeface="Aptos"/>
              </a:defRPr>
            </a:pPr>
            <a:r>
              <a:t>campañas temporales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46120" y="3712463"/>
            <a:ext cx="1051560" cy="694944"/>
          </a:xfrm>
          <a:prstGeom prst="rect">
            <a:avLst/>
          </a:prstGeom>
          <a:solidFill>
            <a:srgbClr val="EEF2F7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257800" y="3474720"/>
            <a:ext cx="37947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367528" y="3611879"/>
            <a:ext cx="73152" cy="1143000"/>
          </a:xfrm>
          <a:prstGeom prst="round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840" y="3657600"/>
            <a:ext cx="33375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181E2A"/>
                </a:solidFill>
                <a:latin typeface="Aptos Display"/>
              </a:defRPr>
            </a:pPr>
            <a:r>
              <a:t>Revendedor starter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840" y="4096511"/>
            <a:ext cx="3337560" cy="6675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60" b="0">
                <a:solidFill>
                  <a:srgbClr val="5B687C"/>
                </a:solidFill>
                <a:latin typeface="Aptos"/>
              </a:defRPr>
            </a:pPr>
            <a:r>
              <a:t>productos + scripts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80960" y="3712463"/>
            <a:ext cx="1051560" cy="694944"/>
          </a:xfrm>
          <a:prstGeom prst="rect">
            <a:avLst/>
          </a:prstGeom>
          <a:solidFill>
            <a:srgbClr val="EEF2F7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692640" y="3474720"/>
            <a:ext cx="37947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802367" y="3611879"/>
            <a:ext cx="73152" cy="1143000"/>
          </a:xfrm>
          <a:prstGeom prst="roundRect">
            <a:avLst/>
          </a:prstGeom>
          <a:solidFill>
            <a:srgbClr val="FF7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12680" y="3657600"/>
            <a:ext cx="33375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181E2A"/>
                </a:solidFill>
                <a:latin typeface="Aptos Display"/>
              </a:defRPr>
            </a:pPr>
            <a:r>
              <a:t>Aliado / influencer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12680" y="4096511"/>
            <a:ext cx="3337560" cy="6675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60" b="0">
                <a:solidFill>
                  <a:srgbClr val="5B687C"/>
                </a:solidFill>
                <a:latin typeface="Aptos"/>
              </a:defRPr>
            </a:pPr>
            <a:r>
              <a:t>store personalizada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115800" y="3712463"/>
            <a:ext cx="1051560" cy="694944"/>
          </a:xfrm>
          <a:prstGeom prst="rect">
            <a:avLst/>
          </a:prstGeom>
          <a:solidFill>
            <a:srgbClr val="EEF2F7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34440" y="6126480"/>
            <a:ext cx="1207008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2200" b="1">
                <a:solidFill>
                  <a:srgbClr val="00AEB5"/>
                </a:solidFill>
                <a:latin typeface="Aptos Display"/>
              </a:defRPr>
            </a:pPr>
            <a:r>
              <a:t>MVP: no requiere inventario propio. Puede iniciar como catálogo afiliado/stores curadas con links trazables.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521440" y="7818120"/>
            <a:ext cx="24688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0">
                <a:solidFill>
                  <a:srgbClr val="5B687C"/>
                </a:solidFill>
                <a:latin typeface="Aptos"/>
              </a:defRPr>
            </a:pPr>
            <a:r>
              <a:t>Be Global Commerce OS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ptos Display"/>
              </a:defRPr>
            </a:pPr>
            <a:r>
              <a:t>Ofertas Premium MX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78408"/>
            <a:ext cx="10789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ptos"/>
              </a:defRPr>
            </a:pPr>
            <a:r>
              <a:t>De canal de links a marketplace conversacional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417320"/>
            <a:ext cx="4114800" cy="580644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1691640"/>
            <a:ext cx="34747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Telegram · Ofertas Premium MX 🇲🇽🔥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17320" y="2148840"/>
            <a:ext cx="3429000" cy="749808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1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7048" y="2286000"/>
            <a:ext cx="73152" cy="475488"/>
          </a:xfrm>
          <a:prstGeom prst="roundRect">
            <a:avLst/>
          </a:prstGeom>
          <a:solidFill>
            <a:srgbClr val="00A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7360" y="2331720"/>
            <a:ext cx="297180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 Display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737360" y="2770632"/>
            <a:ext cx="2971800" cy="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60" b="0">
                <a:solidFill>
                  <a:srgbClr val="CBD5E1"/>
                </a:solidFill>
                <a:latin typeface="Aptos"/>
              </a:defRPr>
            </a:pPr>
            <a:r>
              <a:t>Oferta flash: audífonos -42%</a:t>
            </a:r>
            <a:br/>
            <a:r>
              <a:t>Cupón activo · Amazon MX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17320" y="3172968"/>
            <a:ext cx="3429000" cy="749808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1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527048" y="3310128"/>
            <a:ext cx="73152" cy="475488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37360" y="3355848"/>
            <a:ext cx="297180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 Display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737360" y="3794760"/>
            <a:ext cx="2971800" cy="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60" b="0">
                <a:solidFill>
                  <a:srgbClr val="CBD5E1"/>
                </a:solidFill>
                <a:latin typeface="Aptos"/>
              </a:defRPr>
            </a:pPr>
            <a:r>
              <a:t>Usuario: ¿sirve para revender?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17320" y="4197096"/>
            <a:ext cx="3429000" cy="749808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1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527048" y="4334256"/>
            <a:ext cx="73152" cy="475488"/>
          </a:xfrm>
          <a:prstGeom prst="roundRect">
            <a:avLst/>
          </a:prstGeom>
          <a:solidFill>
            <a:srgbClr val="76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37360" y="4379976"/>
            <a:ext cx="297180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 Display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1737360" y="4818888"/>
            <a:ext cx="2971800" cy="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60" b="0">
                <a:solidFill>
                  <a:srgbClr val="CBD5E1"/>
                </a:solidFill>
                <a:latin typeface="Aptos"/>
              </a:defRPr>
            </a:pPr>
            <a:r>
              <a:t>Agente: Sí, margen potencial bajo prueba.</a:t>
            </a:r>
            <a:br/>
            <a:r>
              <a:t>Te doy copy + precio sugerido.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17320" y="5221224"/>
            <a:ext cx="3429000" cy="749808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1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527048" y="5358384"/>
            <a:ext cx="73152" cy="475488"/>
          </a:xfrm>
          <a:prstGeom prst="roundRect">
            <a:avLst/>
          </a:prstGeom>
          <a:solidFill>
            <a:srgbClr val="24C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37360" y="5404104"/>
            <a:ext cx="297180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 Display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1737360" y="5843016"/>
            <a:ext cx="2971800" cy="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60" b="0">
                <a:solidFill>
                  <a:srgbClr val="CBD5E1"/>
                </a:solidFill>
                <a:latin typeface="Aptos"/>
              </a:defRPr>
            </a:pPr>
            <a:r>
              <a:t>Botón: Ver oferta / Guardar / Comparar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97880" y="1828800"/>
            <a:ext cx="3566160" cy="123444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1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007608" y="1965960"/>
            <a:ext cx="73152" cy="960120"/>
          </a:xfrm>
          <a:prstGeom prst="roundRect">
            <a:avLst/>
          </a:prstGeom>
          <a:solidFill>
            <a:srgbClr val="00A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2011680"/>
            <a:ext cx="31089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 Display"/>
              </a:defRPr>
            </a:pPr>
            <a:r>
              <a:t>Lo que ya existe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450592"/>
            <a:ext cx="3108960" cy="4846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60" b="0">
                <a:solidFill>
                  <a:srgbClr val="CBD5E1"/>
                </a:solidFill>
                <a:latin typeface="Aptos"/>
              </a:defRPr>
            </a:pPr>
            <a:r>
              <a:t>atención compradora, constancia y afiliados Amazon.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97880" y="3474720"/>
            <a:ext cx="3566160" cy="123444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1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007608" y="3611879"/>
            <a:ext cx="73152" cy="960120"/>
          </a:xfrm>
          <a:prstGeom prst="roundRect">
            <a:avLst/>
          </a:prstGeom>
          <a:solidFill>
            <a:srgbClr val="76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3657600"/>
            <a:ext cx="31089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 Display"/>
              </a:defRPr>
            </a:pPr>
            <a:r>
              <a:t>Lo que agregamos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4096511"/>
            <a:ext cx="3108960" cy="4846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60" b="0">
                <a:solidFill>
                  <a:srgbClr val="CBD5E1"/>
                </a:solidFill>
                <a:latin typeface="Aptos"/>
              </a:defRPr>
            </a:pPr>
            <a:r>
              <a:t>recomendación, segmentación, seguimiento y medición.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58400" y="1828800"/>
            <a:ext cx="3566160" cy="288036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1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168128" y="1965960"/>
            <a:ext cx="73152" cy="2606040"/>
          </a:xfrm>
          <a:prstGeom prst="round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78440" y="2011680"/>
            <a:ext cx="31089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 Display"/>
              </a:defRPr>
            </a:pPr>
            <a:r>
              <a:t>Regla del piloto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78440" y="2450592"/>
            <a:ext cx="3108960" cy="21305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60" b="0">
                <a:solidFill>
                  <a:srgbClr val="CBD5E1"/>
                </a:solidFill>
                <a:latin typeface="Aptos"/>
              </a:defRPr>
            </a:pPr>
            <a:r>
              <a:t>No pedir admin del canal al inicio. Crear bot/agente separado, con opt-in, ofertas de muestra y métricas claras.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521440" y="7818120"/>
            <a:ext cx="24688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0">
                <a:solidFill>
                  <a:srgbClr val="5B687C"/>
                </a:solidFill>
                <a:latin typeface="Aptos"/>
              </a:defRPr>
            </a:pPr>
            <a:r>
              <a:t>Be Global Commerce OS  ·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3200" b="1">
                <a:solidFill>
                  <a:srgbClr val="181E2A"/>
                </a:solidFill>
                <a:latin typeface="Aptos Display"/>
              </a:defRPr>
            </a:pPr>
            <a:r>
              <a:t>Flujo del piloto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78408"/>
            <a:ext cx="10789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5B687C"/>
                </a:solidFill>
                <a:latin typeface="Aptos"/>
              </a:defRPr>
            </a:pPr>
            <a:r>
              <a:t>Usuarios reales, ofertas reales, conversaciones reales, métricas reales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2011680" cy="384048"/>
          </a:xfrm>
          <a:prstGeom prst="roundRect">
            <a:avLst/>
          </a:prstGeom>
          <a:solidFill>
            <a:srgbClr val="00A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Usuario</a:t>
            </a:r>
          </a:p>
        </p:txBody>
      </p:sp>
      <p:sp>
        <p:nvSpPr>
          <p:cNvPr id="5" name="Rectangle 4"/>
          <p:cNvSpPr/>
          <p:nvPr/>
        </p:nvSpPr>
        <p:spPr>
          <a:xfrm>
            <a:off x="2788920" y="1490472"/>
            <a:ext cx="10881360" cy="36576"/>
          </a:xfrm>
          <a:prstGeom prst="rect">
            <a:avLst/>
          </a:prstGeom>
          <a:solidFill>
            <a:srgbClr val="DC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651760"/>
            <a:ext cx="2011680" cy="384048"/>
          </a:xfrm>
          <a:prstGeom prst="roundRect">
            <a:avLst/>
          </a:prstGeom>
          <a:solidFill>
            <a:srgbClr val="76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Agente IA</a:t>
            </a:r>
          </a:p>
        </p:txBody>
      </p:sp>
      <p:sp>
        <p:nvSpPr>
          <p:cNvPr id="7" name="Rectangle 6"/>
          <p:cNvSpPr/>
          <p:nvPr/>
        </p:nvSpPr>
        <p:spPr>
          <a:xfrm>
            <a:off x="2788920" y="2816352"/>
            <a:ext cx="10881360" cy="36576"/>
          </a:xfrm>
          <a:prstGeom prst="rect">
            <a:avLst/>
          </a:prstGeom>
          <a:solidFill>
            <a:srgbClr val="DC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3977639"/>
            <a:ext cx="2011680" cy="384048"/>
          </a:xfrm>
          <a:prstGeom prst="roundRect">
            <a:avLst/>
          </a:prstGeom>
          <a:solidFill>
            <a:srgbClr val="40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Be Global / Operación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88920" y="4142231"/>
            <a:ext cx="10881360" cy="36576"/>
          </a:xfrm>
          <a:prstGeom prst="rect">
            <a:avLst/>
          </a:prstGeom>
          <a:solidFill>
            <a:srgbClr val="DC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5303520"/>
            <a:ext cx="2011680" cy="384048"/>
          </a:xfrm>
          <a:prstGeom prst="roundRect">
            <a:avLst/>
          </a:prstGeom>
          <a:solidFill>
            <a:srgbClr val="24C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CRM / 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88920" y="5468112"/>
            <a:ext cx="10881360" cy="36576"/>
          </a:xfrm>
          <a:prstGeom prst="rect">
            <a:avLst/>
          </a:prstGeom>
          <a:solidFill>
            <a:srgbClr val="DC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80360" y="1554480"/>
            <a:ext cx="1874519" cy="384048"/>
          </a:xfrm>
          <a:prstGeom prst="roundRect">
            <a:avLst/>
          </a:prstGeom>
          <a:solidFill>
            <a:srgbClr val="00A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ve oferta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32120" y="2880360"/>
            <a:ext cx="1874519" cy="384048"/>
          </a:xfrm>
          <a:prstGeom prst="roundRect">
            <a:avLst/>
          </a:prstGeom>
          <a:solidFill>
            <a:srgbClr val="76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responde pregunta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4206240"/>
            <a:ext cx="1874519" cy="384048"/>
          </a:xfrm>
          <a:prstGeom prst="roundRect">
            <a:avLst/>
          </a:prstGeom>
          <a:solidFill>
            <a:srgbClr val="40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selecciona productos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835640" y="5532120"/>
            <a:ext cx="1874519" cy="384048"/>
          </a:xfrm>
          <a:prstGeom prst="roundRect">
            <a:avLst/>
          </a:prstGeom>
          <a:solidFill>
            <a:srgbClr val="24C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registra interés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80360" y="1847088"/>
            <a:ext cx="1874519" cy="384048"/>
          </a:xfrm>
          <a:prstGeom prst="roundRect">
            <a:avLst/>
          </a:prstGeom>
          <a:solidFill>
            <a:srgbClr val="00A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hace click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32120" y="3172968"/>
            <a:ext cx="1874519" cy="384048"/>
          </a:xfrm>
          <a:prstGeom prst="roundRect">
            <a:avLst/>
          </a:prstGeom>
          <a:solidFill>
            <a:srgbClr val="76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recomienda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4498848"/>
            <a:ext cx="1874519" cy="384048"/>
          </a:xfrm>
          <a:prstGeom prst="roundRect">
            <a:avLst/>
          </a:prstGeom>
          <a:solidFill>
            <a:srgbClr val="40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publica campaña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835640" y="5824728"/>
            <a:ext cx="1874519" cy="384048"/>
          </a:xfrm>
          <a:prstGeom prst="roundRect">
            <a:avLst/>
          </a:prstGeom>
          <a:solidFill>
            <a:srgbClr val="24C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mide CTR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80360" y="2139696"/>
            <a:ext cx="1874519" cy="384048"/>
          </a:xfrm>
          <a:prstGeom prst="roundRect">
            <a:avLst/>
          </a:prstGeom>
          <a:solidFill>
            <a:srgbClr val="00A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compra/guarda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32120" y="3465576"/>
            <a:ext cx="1874519" cy="384048"/>
          </a:xfrm>
          <a:prstGeom prst="roundRect">
            <a:avLst/>
          </a:prstGeom>
          <a:solidFill>
            <a:srgbClr val="76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follow-up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79" y="4791455"/>
            <a:ext cx="1874519" cy="384048"/>
          </a:xfrm>
          <a:prstGeom prst="roundRect">
            <a:avLst/>
          </a:prstGeom>
          <a:solidFill>
            <a:srgbClr val="40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optimiza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835640" y="6117336"/>
            <a:ext cx="1874519" cy="384048"/>
          </a:xfrm>
          <a:prstGeom prst="roundRect">
            <a:avLst/>
          </a:prstGeom>
          <a:solidFill>
            <a:srgbClr val="24C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reporte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6995160"/>
            <a:ext cx="7772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2200" b="1">
                <a:solidFill>
                  <a:srgbClr val="0D182C"/>
                </a:solidFill>
                <a:latin typeface="Aptos Display"/>
              </a:defRPr>
            </a:pPr>
            <a:r>
              <a:t>El piloto valida la operación antes de escalar tecnología.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21440" y="7818120"/>
            <a:ext cx="24688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0">
                <a:solidFill>
                  <a:srgbClr val="5B687C"/>
                </a:solidFill>
                <a:latin typeface="Aptos"/>
              </a:defRPr>
            </a:pPr>
            <a:r>
              <a:t>Be Global Commerce OS  ·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3200" b="1">
                <a:solidFill>
                  <a:srgbClr val="181E2A"/>
                </a:solidFill>
                <a:latin typeface="Aptos Display"/>
              </a:defRPr>
            </a:pPr>
            <a:r>
              <a:t>MVP 30–45 días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78408"/>
            <a:ext cx="10789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5B687C"/>
                </a:solidFill>
                <a:latin typeface="Aptos"/>
              </a:defRPr>
            </a:pPr>
            <a:r>
              <a:t>Empezar pequeño, diseñar grande, medir rápido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3977639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2688" y="1554480"/>
            <a:ext cx="73152" cy="1051560"/>
          </a:xfrm>
          <a:prstGeom prst="roundRect">
            <a:avLst/>
          </a:prstGeom>
          <a:solidFill>
            <a:srgbClr val="00A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00200"/>
            <a:ext cx="3520439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181E2A"/>
                </a:solidFill>
                <a:latin typeface="Aptos Display"/>
              </a:defRPr>
            </a:pPr>
            <a:r>
              <a:t>Objetivo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039112"/>
            <a:ext cx="3520439" cy="5760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60" b="0">
                <a:solidFill>
                  <a:srgbClr val="5B687C"/>
                </a:solidFill>
                <a:latin typeface="Aptos"/>
              </a:defRPr>
            </a:pPr>
            <a:r>
              <a:t>Validar demanda, conversión, operación y aprendizaje.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0" y="1417320"/>
            <a:ext cx="3977639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04688" y="1554480"/>
            <a:ext cx="73152" cy="1051560"/>
          </a:xfrm>
          <a:prstGeom prst="roundRect">
            <a:avLst/>
          </a:prstGeom>
          <a:solidFill>
            <a:srgbClr val="76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15000" y="1600200"/>
            <a:ext cx="3520439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181E2A"/>
                </a:solidFill>
                <a:latin typeface="Aptos Display"/>
              </a:defRPr>
            </a:pPr>
            <a:r>
              <a:t>Alcance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2039112"/>
            <a:ext cx="3520439" cy="5760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60" b="0">
                <a:solidFill>
                  <a:srgbClr val="5B687C"/>
                </a:solidFill>
                <a:latin typeface="Aptos"/>
              </a:defRPr>
            </a:pPr>
            <a:r>
              <a:t>Agente + CRM + tienda/catálogo + piloto Telegram + dashboard.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66960" y="1417320"/>
            <a:ext cx="3977639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076688" y="1554480"/>
            <a:ext cx="73152" cy="1051560"/>
          </a:xfrm>
          <a:prstGeom prst="roundRect">
            <a:avLst/>
          </a:prstGeom>
          <a:solidFill>
            <a:srgbClr val="FF7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87000" y="1600200"/>
            <a:ext cx="3520439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181E2A"/>
                </a:solidFill>
                <a:latin typeface="Aptos Display"/>
              </a:defRPr>
            </a:pPr>
            <a:r>
              <a:t>No incluido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0" y="2039112"/>
            <a:ext cx="3520439" cy="5760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60" b="0">
                <a:solidFill>
                  <a:srgbClr val="5B687C"/>
                </a:solidFill>
                <a:latin typeface="Aptos"/>
              </a:defRPr>
            </a:pPr>
            <a:r>
              <a:t>Marketplace completo, admin del canal, automatización total, garantías.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657600"/>
            <a:ext cx="28803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24128" y="3794760"/>
            <a:ext cx="73152" cy="960120"/>
          </a:xfrm>
          <a:prstGeom prst="roundRect">
            <a:avLst/>
          </a:prstGeom>
          <a:solidFill>
            <a:srgbClr val="00A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3840480"/>
            <a:ext cx="2423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181E2A"/>
                </a:solidFill>
                <a:latin typeface="Aptos Display"/>
              </a:defRPr>
            </a:pPr>
            <a:r>
              <a:t>Semana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279392"/>
            <a:ext cx="2423160" cy="4846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60" b="0">
                <a:solidFill>
                  <a:srgbClr val="5B687C"/>
                </a:solidFill>
                <a:latin typeface="Aptos"/>
              </a:defRPr>
            </a:pPr>
            <a:r>
              <a:t>Blueprint, tiers, CRM, diagnóstico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822191" y="4279392"/>
            <a:ext cx="365761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251960" y="3657600"/>
            <a:ext cx="28803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61688" y="3794760"/>
            <a:ext cx="73152" cy="960120"/>
          </a:xfrm>
          <a:prstGeom prst="roundRect">
            <a:avLst/>
          </a:prstGeom>
          <a:solidFill>
            <a:srgbClr val="76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3840480"/>
            <a:ext cx="2423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181E2A"/>
                </a:solidFill>
                <a:latin typeface="Aptos Display"/>
              </a:defRPr>
            </a:pPr>
            <a:r>
              <a:t>Semana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279392"/>
            <a:ext cx="2423160" cy="4846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60" b="0">
                <a:solidFill>
                  <a:srgbClr val="5B687C"/>
                </a:solidFill>
                <a:latin typeface="Aptos"/>
              </a:defRPr>
            </a:pPr>
            <a:r>
              <a:t>Agente, catálogo, scripts, tracking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159752" y="4279392"/>
            <a:ext cx="36576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589520" y="3657600"/>
            <a:ext cx="28803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699248" y="3794760"/>
            <a:ext cx="73152" cy="960120"/>
          </a:xfrm>
          <a:prstGeom prst="roundRect">
            <a:avLst/>
          </a:prstGeom>
          <a:solidFill>
            <a:srgbClr val="40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9560" y="3840480"/>
            <a:ext cx="2423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181E2A"/>
                </a:solidFill>
                <a:latin typeface="Aptos Display"/>
              </a:defRPr>
            </a:pPr>
            <a:r>
              <a:t>Semana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09560" y="4279392"/>
            <a:ext cx="2423160" cy="4846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60" b="0">
                <a:solidFill>
                  <a:srgbClr val="5B687C"/>
                </a:solidFill>
                <a:latin typeface="Aptos"/>
              </a:defRPr>
            </a:pPr>
            <a:r>
              <a:t>Lanzamiento controlado y campañas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0497312" y="4279392"/>
            <a:ext cx="36576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0927080" y="3657600"/>
            <a:ext cx="28803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1036807" y="3794760"/>
            <a:ext cx="73152" cy="960120"/>
          </a:xfrm>
          <a:prstGeom prst="roundRect">
            <a:avLst/>
          </a:prstGeom>
          <a:solidFill>
            <a:srgbClr val="24C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247119" y="3840480"/>
            <a:ext cx="2423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181E2A"/>
                </a:solidFill>
                <a:latin typeface="Aptos Display"/>
              </a:defRPr>
            </a:pPr>
            <a:r>
              <a:t>Semana 4–6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19" y="4279392"/>
            <a:ext cx="2423160" cy="4846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60" b="0">
                <a:solidFill>
                  <a:srgbClr val="5B687C"/>
                </a:solidFill>
                <a:latin typeface="Aptos"/>
              </a:defRPr>
            </a:pPr>
            <a:r>
              <a:t>Optimización, reporte y plan de escala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6355080"/>
            <a:ext cx="1243584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2500" b="1">
                <a:solidFill>
                  <a:srgbClr val="00AEB5"/>
                </a:solidFill>
                <a:latin typeface="Aptos Display"/>
              </a:defRPr>
            </a:pPr>
            <a:r>
              <a:t>Decisión requerida: aprobar el piloto, no la plataforma completa.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521440" y="7818120"/>
            <a:ext cx="24688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0">
                <a:solidFill>
                  <a:srgbClr val="5B687C"/>
                </a:solidFill>
                <a:latin typeface="Aptos"/>
              </a:defRPr>
            </a:pPr>
            <a:r>
              <a:t>Be Global Commerce OS  ·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3200" b="1">
                <a:solidFill>
                  <a:srgbClr val="181E2A"/>
                </a:solidFill>
                <a:latin typeface="Aptos Display"/>
              </a:defRPr>
            </a:pPr>
            <a:r>
              <a:t>KPIs del piloto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78408"/>
            <a:ext cx="10789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5B687C"/>
                </a:solidFill>
                <a:latin typeface="Aptos"/>
              </a:defRPr>
            </a:pPr>
            <a:r>
              <a:t>Qué queremos probar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508760"/>
            <a:ext cx="3977639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86968" y="1645919"/>
            <a:ext cx="73152" cy="1143000"/>
          </a:xfrm>
          <a:prstGeom prst="roundRect">
            <a:avLst/>
          </a:prstGeom>
          <a:solidFill>
            <a:srgbClr val="00A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91639"/>
            <a:ext cx="41148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1800" b="1">
                <a:solidFill>
                  <a:srgbClr val="00AEB5"/>
                </a:solidFill>
                <a:latin typeface="Aptos Display"/>
              </a:defRPr>
            </a:pPr>
            <a: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91639"/>
            <a:ext cx="3063239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181E2A"/>
                </a:solidFill>
                <a:latin typeface="Aptos Display"/>
              </a:defRPr>
            </a:pPr>
            <a:r>
              <a:t>Adquisición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30552"/>
            <a:ext cx="3063239" cy="6675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60" b="0">
                <a:solidFill>
                  <a:srgbClr val="5B687C"/>
                </a:solidFill>
                <a:latin typeface="Aptos"/>
              </a:defRPr>
            </a:pPr>
            <a:r>
              <a:t>opt-ins, leads, fuente, registro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1508760"/>
            <a:ext cx="3977639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13248" y="1645919"/>
            <a:ext cx="73152" cy="1143000"/>
          </a:xfrm>
          <a:prstGeom prst="roundRect">
            <a:avLst/>
          </a:prstGeom>
          <a:solidFill>
            <a:srgbClr val="76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23559" y="1691639"/>
            <a:ext cx="41148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1800" b="1">
                <a:solidFill>
                  <a:srgbClr val="765CFF"/>
                </a:solidFill>
                <a:latin typeface="Aptos Display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59" y="1691639"/>
            <a:ext cx="3063239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181E2A"/>
                </a:solidFill>
                <a:latin typeface="Aptos Display"/>
              </a:defRPr>
            </a:pPr>
            <a:r>
              <a:t>Conversación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59" y="2130552"/>
            <a:ext cx="3063239" cy="6675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60" b="0">
                <a:solidFill>
                  <a:srgbClr val="5B687C"/>
                </a:solidFill>
                <a:latin typeface="Aptos"/>
              </a:defRPr>
            </a:pPr>
            <a:r>
              <a:t>preguntas, intención, objeciones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29800" y="1508760"/>
            <a:ext cx="3977639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939528" y="1645919"/>
            <a:ext cx="73152" cy="1143000"/>
          </a:xfrm>
          <a:prstGeom prst="roundRect">
            <a:avLst/>
          </a:prstGeom>
          <a:solidFill>
            <a:srgbClr val="40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49840" y="1691639"/>
            <a:ext cx="41148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1800" b="1">
                <a:solidFill>
                  <a:srgbClr val="407EFF"/>
                </a:solidFill>
                <a:latin typeface="Aptos Display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1691639"/>
            <a:ext cx="3063239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181E2A"/>
                </a:solidFill>
                <a:latin typeface="Aptos Display"/>
              </a:defRPr>
            </a:pPr>
            <a:r>
              <a:t>Conversión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2130552"/>
            <a:ext cx="3063239" cy="6675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60" b="0">
                <a:solidFill>
                  <a:srgbClr val="5B687C"/>
                </a:solidFill>
                <a:latin typeface="Aptos"/>
              </a:defRPr>
            </a:pPr>
            <a:r>
              <a:t>clicks, checkout, compra reportada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383279"/>
            <a:ext cx="3977639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86968" y="3520439"/>
            <a:ext cx="73152" cy="1143000"/>
          </a:xfrm>
          <a:prstGeom prst="roundRect">
            <a:avLst/>
          </a:prstGeom>
          <a:solidFill>
            <a:srgbClr val="24C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3566160"/>
            <a:ext cx="41148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1800" b="1">
                <a:solidFill>
                  <a:srgbClr val="24C486"/>
                </a:solidFill>
                <a:latin typeface="Aptos Display"/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566160"/>
            <a:ext cx="3063239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181E2A"/>
                </a:solidFill>
                <a:latin typeface="Aptos Display"/>
              </a:defRPr>
            </a:pPr>
            <a:r>
              <a:t>Activación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005072"/>
            <a:ext cx="3063239" cy="6675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60" b="0">
                <a:solidFill>
                  <a:srgbClr val="5B687C"/>
                </a:solidFill>
                <a:latin typeface="Aptos"/>
              </a:defRPr>
            </a:pPr>
            <a:r>
              <a:t>curso, comunidad, primer paso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03520" y="3383279"/>
            <a:ext cx="3977639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13248" y="3520439"/>
            <a:ext cx="73152" cy="1143000"/>
          </a:xfrm>
          <a:prstGeom prst="round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23559" y="3566160"/>
            <a:ext cx="41148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1800" b="1">
                <a:solidFill>
                  <a:srgbClr val="FFB84D"/>
                </a:solidFill>
                <a:latin typeface="Aptos Display"/>
              </a:defRPr>
            </a:pPr>
            <a: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59" y="3566160"/>
            <a:ext cx="3063239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181E2A"/>
                </a:solidFill>
                <a:latin typeface="Aptos Display"/>
              </a:defRPr>
            </a:pPr>
            <a:r>
              <a:t>Operación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59" y="4005072"/>
            <a:ext cx="3063239" cy="6675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60" b="0">
                <a:solidFill>
                  <a:srgbClr val="5B687C"/>
                </a:solidFill>
                <a:latin typeface="Aptos"/>
              </a:defRPr>
            </a:pPr>
            <a:r>
              <a:t>tiempo ahorrado, tickets, escalaciones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29800" y="3383279"/>
            <a:ext cx="3977639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939528" y="3520439"/>
            <a:ext cx="73152" cy="1143000"/>
          </a:xfrm>
          <a:prstGeom prst="roundRect">
            <a:avLst/>
          </a:prstGeom>
          <a:solidFill>
            <a:srgbClr val="FF7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49840" y="3566160"/>
            <a:ext cx="41148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1800" b="1">
                <a:solidFill>
                  <a:srgbClr val="FF7457"/>
                </a:solidFill>
                <a:latin typeface="Aptos Display"/>
              </a:defRPr>
            </a:pPr>
            <a: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3566160"/>
            <a:ext cx="3063239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181E2A"/>
                </a:solidFill>
                <a:latin typeface="Aptos Display"/>
              </a:defRPr>
            </a:pPr>
            <a:r>
              <a:t>Aprendizaje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4005072"/>
            <a:ext cx="3063239" cy="6675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60" b="0">
                <a:solidFill>
                  <a:srgbClr val="5B687C"/>
                </a:solidFill>
                <a:latin typeface="Aptos"/>
              </a:defRPr>
            </a:pPr>
            <a:r>
              <a:t>productos top, campañas, segmentos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6263640"/>
            <a:ext cx="123444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2300" b="1">
                <a:solidFill>
                  <a:srgbClr val="0D182C"/>
                </a:solidFill>
                <a:latin typeface="Aptos Display"/>
              </a:defRPr>
            </a:pPr>
            <a:r>
              <a:t>Si el piloto no produce data clara, no escalamos. Si produce señales fuertes, escalamos con evidencia.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521440" y="7818120"/>
            <a:ext cx="24688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0">
                <a:solidFill>
                  <a:srgbClr val="5B687C"/>
                </a:solidFill>
                <a:latin typeface="Aptos"/>
              </a:defRPr>
            </a:pPr>
            <a:r>
              <a:t>Be Global Commerce OS  ·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3200" b="1">
                <a:solidFill>
                  <a:srgbClr val="181E2A"/>
                </a:solidFill>
                <a:latin typeface="Aptos Display"/>
              </a:defRPr>
            </a:pPr>
            <a:r>
              <a:t>Modelo comercial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78408"/>
            <a:ext cx="10789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5B687C"/>
                </a:solidFill>
                <a:latin typeface="Aptos"/>
              </a:defRPr>
            </a:pPr>
            <a:r>
              <a:t>Un modelo híbrido: plataforma, operación y upside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63040" y="5852160"/>
            <a:ext cx="17830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72768" y="5989320"/>
            <a:ext cx="73152" cy="960120"/>
          </a:xfrm>
          <a:prstGeom prst="roundRect">
            <a:avLst/>
          </a:prstGeom>
          <a:solidFill>
            <a:srgbClr val="00A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83080" y="6035040"/>
            <a:ext cx="132588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181E2A"/>
                </a:solidFill>
                <a:latin typeface="Aptos Display"/>
              </a:defRPr>
            </a:pPr>
            <a:r>
              <a:t>Setup inicial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6473952"/>
            <a:ext cx="1325880" cy="4846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60" b="0">
                <a:solidFill>
                  <a:srgbClr val="5B687C"/>
                </a:solidFill>
                <a:latin typeface="Aptos"/>
              </a:defRPr>
            </a:pPr>
            <a:r>
              <a:t>Arquitectura, agentes, CRM, tienda, primer piloto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5166360"/>
            <a:ext cx="17830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38728" y="5303520"/>
            <a:ext cx="73152" cy="960120"/>
          </a:xfrm>
          <a:prstGeom prst="roundRect">
            <a:avLst/>
          </a:prstGeom>
          <a:solidFill>
            <a:srgbClr val="76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39" y="5349240"/>
            <a:ext cx="132588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181E2A"/>
                </a:solidFill>
                <a:latin typeface="Aptos Display"/>
              </a:defRPr>
            </a:pPr>
            <a:r>
              <a:t>Mensualidad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5788152"/>
            <a:ext cx="1325880" cy="4846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60" b="0">
                <a:solidFill>
                  <a:srgbClr val="5B687C"/>
                </a:solidFill>
                <a:latin typeface="Aptos"/>
              </a:defRPr>
            </a:pPr>
            <a:r>
              <a:t>soporte, optimización, reporting, nuevos flujos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0" y="4480560"/>
            <a:ext cx="17830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504688" y="4617720"/>
            <a:ext cx="73152" cy="960120"/>
          </a:xfrm>
          <a:prstGeom prst="roundRect">
            <a:avLst/>
          </a:prstGeom>
          <a:solidFill>
            <a:srgbClr val="40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15000" y="4663440"/>
            <a:ext cx="132588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181E2A"/>
                </a:solidFill>
                <a:latin typeface="Aptos Display"/>
              </a:defRPr>
            </a:pPr>
            <a:r>
              <a:t>Membresía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5102352"/>
            <a:ext cx="1325880" cy="4846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60" b="0">
                <a:solidFill>
                  <a:srgbClr val="5B687C"/>
                </a:solidFill>
                <a:latin typeface="Aptos"/>
              </a:defRPr>
            </a:pPr>
            <a:r>
              <a:t>academia, comunidad, ofertas premium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19" y="3794760"/>
            <a:ext cx="17830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70647" y="3931920"/>
            <a:ext cx="73152" cy="960120"/>
          </a:xfrm>
          <a:prstGeom prst="roundRect">
            <a:avLst/>
          </a:prstGeom>
          <a:solidFill>
            <a:srgbClr val="24C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59" y="3977640"/>
            <a:ext cx="132588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181E2A"/>
                </a:solidFill>
                <a:latin typeface="Aptos Display"/>
              </a:defRPr>
            </a:pPr>
            <a:r>
              <a:t>Comisiones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59" y="4416552"/>
            <a:ext cx="1325880" cy="4846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60" b="0">
                <a:solidFill>
                  <a:srgbClr val="5B687C"/>
                </a:solidFill>
                <a:latin typeface="Aptos"/>
              </a:defRPr>
            </a:pPr>
            <a:r>
              <a:t>Amazon/marketplaces/proveedores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3108960"/>
            <a:ext cx="17830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436607" y="3246120"/>
            <a:ext cx="73152" cy="960120"/>
          </a:xfrm>
          <a:prstGeom prst="round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46919" y="3291840"/>
            <a:ext cx="132588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181E2A"/>
                </a:solidFill>
                <a:latin typeface="Aptos Display"/>
              </a:defRPr>
            </a:pPr>
            <a:r>
              <a:t>Revenue share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19" y="3730752"/>
            <a:ext cx="1325880" cy="4846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60" b="0">
                <a:solidFill>
                  <a:srgbClr val="5B687C"/>
                </a:solidFill>
                <a:latin typeface="Aptos"/>
              </a:defRPr>
            </a:pPr>
            <a:r>
              <a:t>sobre campañas o stores privadas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292840" y="2423160"/>
            <a:ext cx="17830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402567" y="2560320"/>
            <a:ext cx="73152" cy="960120"/>
          </a:xfrm>
          <a:prstGeom prst="roundRect">
            <a:avLst/>
          </a:prstGeom>
          <a:solidFill>
            <a:srgbClr val="FF7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612880" y="2606040"/>
            <a:ext cx="132588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181E2A"/>
                </a:solidFill>
                <a:latin typeface="Aptos Display"/>
              </a:defRPr>
            </a:pPr>
            <a:r>
              <a:t>B2B premium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612880" y="3044952"/>
            <a:ext cx="1325880" cy="4846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60" b="0">
                <a:solidFill>
                  <a:srgbClr val="5B687C"/>
                </a:solidFill>
                <a:latin typeface="Aptos"/>
              </a:defRPr>
            </a:pPr>
            <a:r>
              <a:t>implementación para marcas/sellers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1325880"/>
            <a:ext cx="1207008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2500" b="1">
                <a:solidFill>
                  <a:srgbClr val="181E2A"/>
                </a:solidFill>
                <a:latin typeface="Aptos Display"/>
              </a:defRPr>
            </a:pPr>
            <a:r>
              <a:t>La visión crea múltiples capas de ingreso, no depende de una sola venta o una sola comisión.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21440" y="7818120"/>
            <a:ext cx="24688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0">
                <a:solidFill>
                  <a:srgbClr val="5B687C"/>
                </a:solidFill>
                <a:latin typeface="Aptos"/>
              </a:defRPr>
            </a:pPr>
            <a:r>
              <a:t>Be Global Commerce OS  ·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3200" b="1">
                <a:solidFill>
                  <a:srgbClr val="181E2A"/>
                </a:solidFill>
                <a:latin typeface="Aptos Display"/>
              </a:defRPr>
            </a:pPr>
            <a:r>
              <a:t>Roadmap del ecosistema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78408"/>
            <a:ext cx="10789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5B687C"/>
                </a:solidFill>
                <a:latin typeface="Aptos"/>
              </a:defRPr>
            </a:pPr>
            <a:r>
              <a:t>Del MVP al Commerce OS completo</a:t>
            </a:r>
          </a:p>
        </p:txBody>
      </p:sp>
      <p:sp>
        <p:nvSpPr>
          <p:cNvPr id="4" name="Oval 3"/>
          <p:cNvSpPr/>
          <p:nvPr/>
        </p:nvSpPr>
        <p:spPr>
          <a:xfrm>
            <a:off x="960120" y="2029967"/>
            <a:ext cx="685800" cy="685800"/>
          </a:xfrm>
          <a:prstGeom prst="ellipse">
            <a:avLst/>
          </a:prstGeom>
          <a:solidFill>
            <a:srgbClr val="00A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743200"/>
            <a:ext cx="16916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2880360"/>
            <a:ext cx="73152" cy="731520"/>
          </a:xfrm>
          <a:prstGeom prst="roundRect">
            <a:avLst/>
          </a:prstGeom>
          <a:solidFill>
            <a:srgbClr val="00A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123444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181E2A"/>
                </a:solidFill>
                <a:latin typeface="Aptos Display"/>
              </a:defRPr>
            </a:pPr>
            <a:r>
              <a:t>Fase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64992"/>
            <a:ext cx="12344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60" b="0">
                <a:solidFill>
                  <a:srgbClr val="5B687C"/>
                </a:solidFill>
                <a:latin typeface="Aptos"/>
              </a:defRPr>
            </a:pPr>
            <a:r>
              <a:t>Blueprint + oferta + stack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94560" y="3246120"/>
            <a:ext cx="301752" cy="1325880"/>
          </a:xfrm>
          <a:prstGeom prst="line">
            <a:avLst/>
          </a:prstGeom>
          <a:ln w="16510">
            <a:solidFill>
              <a:srgbClr val="6E7D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953512" y="3355848"/>
            <a:ext cx="685800" cy="685800"/>
          </a:xfrm>
          <a:prstGeom prst="ellipse">
            <a:avLst/>
          </a:prstGeom>
          <a:solidFill>
            <a:srgbClr val="76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96312" y="4069080"/>
            <a:ext cx="16916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606040" y="4206240"/>
            <a:ext cx="73152" cy="731520"/>
          </a:xfrm>
          <a:prstGeom prst="roundRect">
            <a:avLst/>
          </a:prstGeom>
          <a:solidFill>
            <a:srgbClr val="76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16352" y="4251960"/>
            <a:ext cx="123444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181E2A"/>
                </a:solidFill>
                <a:latin typeface="Aptos Display"/>
              </a:defRPr>
            </a:pPr>
            <a:r>
              <a:t>Fase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16352" y="4690872"/>
            <a:ext cx="12344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60" b="0">
                <a:solidFill>
                  <a:srgbClr val="5B687C"/>
                </a:solidFill>
                <a:latin typeface="Aptos"/>
              </a:defRPr>
            </a:pPr>
            <a:r>
              <a:t>Lead capture + diagnóstico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4187952" y="3246120"/>
            <a:ext cx="301752" cy="1325880"/>
          </a:xfrm>
          <a:prstGeom prst="line">
            <a:avLst/>
          </a:prstGeom>
          <a:ln w="16510">
            <a:solidFill>
              <a:srgbClr val="6E7D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946904" y="2029967"/>
            <a:ext cx="685800" cy="685800"/>
          </a:xfrm>
          <a:prstGeom prst="ellipse">
            <a:avLst/>
          </a:prstGeom>
          <a:solidFill>
            <a:srgbClr val="40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9704" y="2743200"/>
            <a:ext cx="16916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99432" y="2880360"/>
            <a:ext cx="73152" cy="731520"/>
          </a:xfrm>
          <a:prstGeom prst="roundRect">
            <a:avLst/>
          </a:prstGeom>
          <a:solidFill>
            <a:srgbClr val="40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926080"/>
            <a:ext cx="123444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181E2A"/>
                </a:solidFill>
                <a:latin typeface="Aptos Display"/>
              </a:defRPr>
            </a:pPr>
            <a:r>
              <a:t>Fase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9744" y="3364992"/>
            <a:ext cx="12344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60" b="0">
                <a:solidFill>
                  <a:srgbClr val="5B687C"/>
                </a:solidFill>
                <a:latin typeface="Aptos"/>
              </a:defRPr>
            </a:pPr>
            <a:r>
              <a:t>Academia + activación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181344" y="3246120"/>
            <a:ext cx="301752" cy="1325880"/>
          </a:xfrm>
          <a:prstGeom prst="line">
            <a:avLst/>
          </a:prstGeom>
          <a:ln w="16510">
            <a:solidFill>
              <a:srgbClr val="6E7D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940296" y="3355848"/>
            <a:ext cx="685800" cy="685800"/>
          </a:xfrm>
          <a:prstGeom prst="ellipse">
            <a:avLst/>
          </a:prstGeom>
          <a:solidFill>
            <a:srgbClr val="24C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83096" y="4069080"/>
            <a:ext cx="16916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92824" y="4206240"/>
            <a:ext cx="73152" cy="731520"/>
          </a:xfrm>
          <a:prstGeom prst="roundRect">
            <a:avLst/>
          </a:prstGeom>
          <a:solidFill>
            <a:srgbClr val="24C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6" y="4251960"/>
            <a:ext cx="123444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181E2A"/>
                </a:solidFill>
                <a:latin typeface="Aptos Display"/>
              </a:defRPr>
            </a:pPr>
            <a:r>
              <a:t>Fase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03136" y="4690872"/>
            <a:ext cx="12344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60" b="0">
                <a:solidFill>
                  <a:srgbClr val="5B687C"/>
                </a:solidFill>
                <a:latin typeface="Aptos"/>
              </a:defRPr>
            </a:pPr>
            <a:r>
              <a:t>Telegram pilot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8174736" y="3246120"/>
            <a:ext cx="301752" cy="1325880"/>
          </a:xfrm>
          <a:prstGeom prst="line">
            <a:avLst/>
          </a:prstGeom>
          <a:ln w="16510">
            <a:solidFill>
              <a:srgbClr val="6E7D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8933688" y="2029967"/>
            <a:ext cx="685800" cy="685800"/>
          </a:xfrm>
          <a:prstGeom prst="ellipse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76488" y="2743200"/>
            <a:ext cx="16916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586216" y="2880360"/>
            <a:ext cx="73152" cy="731520"/>
          </a:xfrm>
          <a:prstGeom prst="round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96528" y="2926080"/>
            <a:ext cx="123444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181E2A"/>
                </a:solidFill>
                <a:latin typeface="Aptos Display"/>
              </a:defRPr>
            </a:pPr>
            <a:r>
              <a:t>Fase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96528" y="3364992"/>
            <a:ext cx="12344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60" b="0">
                <a:solidFill>
                  <a:srgbClr val="5B687C"/>
                </a:solidFill>
                <a:latin typeface="Aptos"/>
              </a:defRPr>
            </a:pPr>
            <a:r>
              <a:t>Catálogo + afiliados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168128" y="3246120"/>
            <a:ext cx="301752" cy="1325880"/>
          </a:xfrm>
          <a:prstGeom prst="line">
            <a:avLst/>
          </a:prstGeom>
          <a:ln w="16510">
            <a:solidFill>
              <a:srgbClr val="6E7D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10927080" y="3355848"/>
            <a:ext cx="685800" cy="685800"/>
          </a:xfrm>
          <a:prstGeom prst="ellipse">
            <a:avLst/>
          </a:prstGeom>
          <a:solidFill>
            <a:srgbClr val="FF7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469880" y="4069080"/>
            <a:ext cx="16916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579608" y="4206240"/>
            <a:ext cx="73152" cy="731520"/>
          </a:xfrm>
          <a:prstGeom prst="roundRect">
            <a:avLst/>
          </a:prstGeom>
          <a:solidFill>
            <a:srgbClr val="FF7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789920" y="4251960"/>
            <a:ext cx="123444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181E2A"/>
                </a:solidFill>
                <a:latin typeface="Aptos Display"/>
              </a:defRPr>
            </a:pPr>
            <a:r>
              <a:t>Fase 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0" y="4690872"/>
            <a:ext cx="12344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60" b="0">
                <a:solidFill>
                  <a:srgbClr val="5B687C"/>
                </a:solidFill>
                <a:latin typeface="Aptos"/>
              </a:defRPr>
            </a:pPr>
            <a:r>
              <a:t>Private stores</a:t>
            </a:r>
          </a:p>
        </p:txBody>
      </p:sp>
      <p:cxnSp>
        <p:nvCxnSpPr>
          <p:cNvPr id="39" name="Connector 38"/>
          <p:cNvCxnSpPr/>
          <p:nvPr/>
        </p:nvCxnSpPr>
        <p:spPr>
          <a:xfrm flipV="1">
            <a:off x="12161520" y="3246120"/>
            <a:ext cx="301752" cy="1325880"/>
          </a:xfrm>
          <a:prstGeom prst="line">
            <a:avLst/>
          </a:prstGeom>
          <a:ln w="16510">
            <a:solidFill>
              <a:srgbClr val="6E7D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12920472" y="2029967"/>
            <a:ext cx="685800" cy="685800"/>
          </a:xfrm>
          <a:prstGeom prst="ellipse">
            <a:avLst/>
          </a:prstGeom>
          <a:solidFill>
            <a:srgbClr val="EE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2463272" y="2743200"/>
            <a:ext cx="16916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2573000" y="2880360"/>
            <a:ext cx="73152" cy="731520"/>
          </a:xfrm>
          <a:prstGeom prst="roundRect">
            <a:avLst/>
          </a:prstGeom>
          <a:solidFill>
            <a:srgbClr val="EE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783312" y="2926080"/>
            <a:ext cx="123444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181E2A"/>
                </a:solidFill>
                <a:latin typeface="Aptos Display"/>
              </a:defRPr>
            </a:pPr>
            <a:r>
              <a:t>Fase 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783312" y="3364992"/>
            <a:ext cx="12344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60" b="0">
                <a:solidFill>
                  <a:srgbClr val="5B687C"/>
                </a:solidFill>
                <a:latin typeface="Aptos"/>
              </a:defRPr>
            </a:pPr>
            <a:r>
              <a:t>Scale + intelligence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80160" y="6355080"/>
            <a:ext cx="119786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2200" b="1">
                <a:solidFill>
                  <a:srgbClr val="0D182C"/>
                </a:solidFill>
                <a:latin typeface="Aptos Display"/>
              </a:defRPr>
            </a:pPr>
            <a:r>
              <a:t>Escalar solo después de validar señales: demanda, conversión, operación y rentabilidad.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521440" y="7818120"/>
            <a:ext cx="24688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0">
                <a:solidFill>
                  <a:srgbClr val="5B687C"/>
                </a:solidFill>
                <a:latin typeface="Aptos"/>
              </a:defRPr>
            </a:pPr>
            <a:r>
              <a:t>Be Global Commerce OS  ·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3200" b="1">
                <a:solidFill>
                  <a:srgbClr val="181E2A"/>
                </a:solidFill>
                <a:latin typeface="Aptos Display"/>
              </a:defRPr>
            </a:pPr>
            <a:r>
              <a:t>Roles sugeridos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78408"/>
            <a:ext cx="10789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5B687C"/>
                </a:solidFill>
                <a:latin typeface="Aptos"/>
              </a:defRPr>
            </a:pPr>
            <a:r>
              <a:t>Quién aporta qué al ecosistema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3977639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86968" y="1554480"/>
            <a:ext cx="73152" cy="1143000"/>
          </a:xfrm>
          <a:prstGeom prst="roundRect">
            <a:avLst/>
          </a:prstGeom>
          <a:solidFill>
            <a:srgbClr val="00A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00200"/>
            <a:ext cx="3520439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181E2A"/>
                </a:solidFill>
                <a:latin typeface="Aptos Display"/>
              </a:defRPr>
            </a:pPr>
            <a:r>
              <a:t>Allan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39112"/>
            <a:ext cx="3520439" cy="6675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60" b="0">
                <a:solidFill>
                  <a:srgbClr val="5B687C"/>
                </a:solidFill>
                <a:latin typeface="Aptos"/>
              </a:defRPr>
            </a:pPr>
            <a:r>
              <a:t>visión, confianza, contenido, cierre estratégico, autoridad ecommerce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1417320"/>
            <a:ext cx="3977639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13248" y="1554480"/>
            <a:ext cx="73152" cy="1143000"/>
          </a:xfrm>
          <a:prstGeom prst="roundRect">
            <a:avLst/>
          </a:prstGeom>
          <a:solidFill>
            <a:srgbClr val="76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23559" y="1600200"/>
            <a:ext cx="3520439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181E2A"/>
                </a:solidFill>
                <a:latin typeface="Aptos Display"/>
              </a:defRPr>
            </a:pPr>
            <a:r>
              <a:t>Esposa de Allan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59" y="2039112"/>
            <a:ext cx="3520439" cy="6675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60" b="0">
                <a:solidFill>
                  <a:srgbClr val="5B687C"/>
                </a:solidFill>
                <a:latin typeface="Aptos"/>
              </a:defRPr>
            </a:pPr>
            <a:r>
              <a:t>curaduría, producto, comunidad, experiencia real y confianza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29800" y="1417320"/>
            <a:ext cx="3977639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939528" y="1554480"/>
            <a:ext cx="73152" cy="1143000"/>
          </a:xfrm>
          <a:prstGeom prst="roundRect">
            <a:avLst/>
          </a:prstGeom>
          <a:solidFill>
            <a:srgbClr val="40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49840" y="1600200"/>
            <a:ext cx="3520439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181E2A"/>
                </a:solidFill>
                <a:latin typeface="Aptos Display"/>
              </a:defRPr>
            </a:pPr>
            <a:r>
              <a:t>Be Global Team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0" y="2039112"/>
            <a:ext cx="3520439" cy="6675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60" b="0">
                <a:solidFill>
                  <a:srgbClr val="5B687C"/>
                </a:solidFill>
                <a:latin typeface="Aptos"/>
              </a:defRPr>
            </a:pPr>
            <a:r>
              <a:t>ventas, soporte, academia, operación y feedback diario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337560"/>
            <a:ext cx="3977639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86968" y="3474720"/>
            <a:ext cx="73152" cy="1143000"/>
          </a:xfrm>
          <a:prstGeom prst="roundRect">
            <a:avLst/>
          </a:prstGeom>
          <a:solidFill>
            <a:srgbClr val="24C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520440"/>
            <a:ext cx="3520439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181E2A"/>
                </a:solidFill>
                <a:latin typeface="Aptos Display"/>
              </a:defRPr>
            </a:pPr>
            <a:r>
              <a:t>Softvibes / Roger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959352"/>
            <a:ext cx="3520439" cy="6675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60" b="0">
                <a:solidFill>
                  <a:srgbClr val="5B687C"/>
                </a:solidFill>
                <a:latin typeface="Aptos"/>
              </a:defRPr>
            </a:pPr>
            <a:r>
              <a:t>arquitectura, agentes, CRM, workflows, demos y automatización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0" y="3337560"/>
            <a:ext cx="3977639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13248" y="3474720"/>
            <a:ext cx="73152" cy="1143000"/>
          </a:xfrm>
          <a:prstGeom prst="round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23559" y="3520440"/>
            <a:ext cx="3520439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181E2A"/>
                </a:solidFill>
                <a:latin typeface="Aptos Display"/>
              </a:defRPr>
            </a:pPr>
            <a:r>
              <a:t>Chris / Comercial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59" y="3959352"/>
            <a:ext cx="3520439" cy="6675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60" b="0">
                <a:solidFill>
                  <a:srgbClr val="5B687C"/>
                </a:solidFill>
                <a:latin typeface="Aptos"/>
              </a:defRPr>
            </a:pPr>
            <a:r>
              <a:t>pitch, pricing, narrativa, paquetes y cierre B2B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29800" y="3337560"/>
            <a:ext cx="3977639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939528" y="3474720"/>
            <a:ext cx="73152" cy="1143000"/>
          </a:xfrm>
          <a:prstGeom prst="roundRect">
            <a:avLst/>
          </a:prstGeom>
          <a:solidFill>
            <a:srgbClr val="FF7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49840" y="3520440"/>
            <a:ext cx="3520439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181E2A"/>
                </a:solidFill>
                <a:latin typeface="Aptos Display"/>
              </a:defRPr>
            </a:pPr>
            <a:r>
              <a:t>Canal Telegram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9840" y="3959352"/>
            <a:ext cx="3520439" cy="6675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60" b="0">
                <a:solidFill>
                  <a:srgbClr val="5B687C"/>
                </a:solidFill>
                <a:latin typeface="Aptos"/>
              </a:defRPr>
            </a:pPr>
            <a:r>
              <a:t>distribución, intención de compra, data de ofertas y tracción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6080760"/>
            <a:ext cx="123444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2400" b="1">
                <a:solidFill>
                  <a:srgbClr val="00AEB5"/>
                </a:solidFill>
                <a:latin typeface="Aptos Display"/>
              </a:defRPr>
            </a:pPr>
            <a:r>
              <a:t>La fuerza está en conectar autoridad + operación + tecnología + distribución.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21440" y="7818120"/>
            <a:ext cx="24688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0">
                <a:solidFill>
                  <a:srgbClr val="5B687C"/>
                </a:solidFill>
                <a:latin typeface="Aptos"/>
              </a:defRPr>
            </a:pPr>
            <a:r>
              <a:t>Be Global Commerce OS  ·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3200" b="1">
                <a:solidFill>
                  <a:srgbClr val="181E2A"/>
                </a:solidFill>
                <a:latin typeface="Aptos Display"/>
              </a:defRPr>
            </a:pPr>
            <a:r>
              <a:t>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78408"/>
            <a:ext cx="10789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5B687C"/>
                </a:solidFill>
                <a:latin typeface="Aptos"/>
              </a:defRPr>
            </a:pPr>
            <a:r>
              <a:t>Lo que sí prometemos y lo que NO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417320"/>
            <a:ext cx="60807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78407" y="1554480"/>
            <a:ext cx="73152" cy="4023360"/>
          </a:xfrm>
          <a:prstGeom prst="roundRect">
            <a:avLst/>
          </a:prstGeom>
          <a:solidFill>
            <a:srgbClr val="EE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19" y="1600200"/>
            <a:ext cx="56235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181E2A"/>
                </a:solidFill>
                <a:latin typeface="Aptos Display"/>
              </a:defRPr>
            </a:pPr>
            <a:r>
              <a:t>No prometer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19" y="2039112"/>
            <a:ext cx="5623560" cy="35478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60" b="0">
                <a:solidFill>
                  <a:srgbClr val="5B687C"/>
                </a:solidFill>
                <a:latin typeface="Aptos"/>
              </a:defRPr>
            </a:pPr>
            <a:r>
              <a:t>• ingresos garantizados</a:t>
            </a:r>
            <a:br/>
            <a:r>
              <a:t>• “gana sin trabajar”</a:t>
            </a:r>
            <a:br/>
            <a:r>
              <a:t>• IA vendiendo sola</a:t>
            </a:r>
            <a:br/>
            <a:r>
              <a:t>• tienda = ventas automáticas</a:t>
            </a:r>
            <a:br/>
            <a:r>
              <a:t>• control sobre stock/precios de terceros</a:t>
            </a:r>
            <a:br/>
            <a:r>
              <a:t>• marketplace completo desde día uno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417320"/>
            <a:ext cx="60807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44967" y="1554480"/>
            <a:ext cx="73152" cy="4023360"/>
          </a:xfrm>
          <a:prstGeom prst="roundRect">
            <a:avLst/>
          </a:prstGeom>
          <a:solidFill>
            <a:srgbClr val="24C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1600200"/>
            <a:ext cx="56235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181E2A"/>
                </a:solidFill>
                <a:latin typeface="Aptos Display"/>
              </a:defRPr>
            </a:pPr>
            <a:r>
              <a:t>Promesa segura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2039112"/>
            <a:ext cx="5623560" cy="35478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60" b="0">
                <a:solidFill>
                  <a:srgbClr val="5B687C"/>
                </a:solidFill>
                <a:latin typeface="Aptos"/>
              </a:defRPr>
            </a:pPr>
            <a:r>
              <a:t>• educación práctica</a:t>
            </a:r>
            <a:br/>
            <a:r>
              <a:t>• curaduría de oportunidades</a:t>
            </a:r>
            <a:br/>
            <a:r>
              <a:t>• herramientas y procesos</a:t>
            </a:r>
            <a:br/>
            <a:r>
              <a:t>• comunidad y acompañamiento</a:t>
            </a:r>
            <a:br/>
            <a:r>
              <a:t>• automatización gradual</a:t>
            </a:r>
            <a:br/>
            <a:r>
              <a:t>• decisiones con data real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6309360"/>
            <a:ext cx="1271016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2000" b="1">
                <a:solidFill>
                  <a:srgbClr val="0D182C"/>
                </a:solidFill>
                <a:latin typeface="Aptos Display"/>
              </a:defRPr>
            </a:pPr>
            <a:r>
              <a:t>Frase segura: “No prometemos ingresos garantizados; damos educación, herramientas, curaduría y procesos para ejecutar con más claridad.”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0" y="7818120"/>
            <a:ext cx="24688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0">
                <a:solidFill>
                  <a:srgbClr val="5B687C"/>
                </a:solidFill>
                <a:latin typeface="Aptos"/>
              </a:defRPr>
            </a:pPr>
            <a:r>
              <a:t>Be Global Commerce OS  ·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3200" b="1">
                <a:solidFill>
                  <a:srgbClr val="181E2A"/>
                </a:solidFill>
                <a:latin typeface="Aptos Display"/>
              </a:defRPr>
            </a:pPr>
            <a:r>
              <a:t>La propuesta para Allan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78408"/>
            <a:ext cx="10789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5B687C"/>
                </a:solidFill>
                <a:latin typeface="Aptos"/>
              </a:defRPr>
            </a:pPr>
            <a:r>
              <a:t>Aprobar un piloto, no una plataforma gigante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4069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2688" y="1554480"/>
            <a:ext cx="73152" cy="4114800"/>
          </a:xfrm>
          <a:prstGeom prst="roundRect">
            <a:avLst/>
          </a:prstGeom>
          <a:solidFill>
            <a:srgbClr val="00A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00200"/>
            <a:ext cx="361188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181E2A"/>
                </a:solidFill>
                <a:latin typeface="Aptos Display"/>
              </a:defRPr>
            </a:pPr>
            <a:r>
              <a:t>Entregables del piloto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039112"/>
            <a:ext cx="3611880" cy="3639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60" b="0">
                <a:solidFill>
                  <a:srgbClr val="5B687C"/>
                </a:solidFill>
                <a:latin typeface="Aptos"/>
              </a:defRPr>
            </a:pPr>
            <a:r>
              <a:t>1. Blueprint Commerce OS</a:t>
            </a:r>
            <a:br/>
            <a:r>
              <a:t>2. Agente diagnóstico/recomendación</a:t>
            </a:r>
            <a:br/>
            <a:r>
              <a:t>3. CRM básico</a:t>
            </a:r>
            <a:br/>
            <a:r>
              <a:t>4. Tienda/catálogo privado</a:t>
            </a:r>
            <a:br/>
            <a:r>
              <a:t>5. Bot Telegram piloto</a:t>
            </a:r>
            <a:br/>
            <a:r>
              <a:t>6. Dashboard semanal</a:t>
            </a:r>
            <a:br/>
            <a:r>
              <a:t>7. Reporte de escalamiento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1417320"/>
            <a:ext cx="4069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13248" y="1554480"/>
            <a:ext cx="73152" cy="4114800"/>
          </a:xfrm>
          <a:prstGeom prst="roundRect">
            <a:avLst/>
          </a:prstGeom>
          <a:solidFill>
            <a:srgbClr val="76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23559" y="1600200"/>
            <a:ext cx="361188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181E2A"/>
                </a:solidFill>
                <a:latin typeface="Aptos Display"/>
              </a:defRPr>
            </a:pPr>
            <a:r>
              <a:t>Preguntas que responde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59" y="2039112"/>
            <a:ext cx="3611880" cy="3639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60" b="0">
                <a:solidFill>
                  <a:srgbClr val="5B687C"/>
                </a:solidFill>
                <a:latin typeface="Aptos"/>
              </a:defRPr>
            </a:pPr>
            <a:r>
              <a:t>• ¿qué productos generan intención?</a:t>
            </a:r>
            <a:br/>
            <a:r>
              <a:t>• ¿qué objeciones aparecen?</a:t>
            </a:r>
            <a:br/>
            <a:r>
              <a:t>• ¿qué tier conviene vender?</a:t>
            </a:r>
            <a:br/>
            <a:r>
              <a:t>• ¿cuánto seguimiento requiere?</a:t>
            </a:r>
            <a:br/>
            <a:r>
              <a:t>• ¿qué canal convierte mejor?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84080" y="1417320"/>
            <a:ext cx="4069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893807" y="1554480"/>
            <a:ext cx="73152" cy="4114800"/>
          </a:xfrm>
          <a:prstGeom prst="round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04119" y="1600200"/>
            <a:ext cx="361188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181E2A"/>
                </a:solidFill>
                <a:latin typeface="Aptos Display"/>
              </a:defRPr>
            </a:pPr>
            <a:r>
              <a:t>Decisión requerida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04119" y="2039112"/>
            <a:ext cx="3611880" cy="3639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60" b="0">
                <a:solidFill>
                  <a:srgbClr val="5B687C"/>
                </a:solidFill>
                <a:latin typeface="Aptos"/>
              </a:defRPr>
            </a:pPr>
            <a:r>
              <a:t>Validar alcance, responsables, stack, muestra de usuarios/ofertas y calendario de 30–45 días.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6537960"/>
            <a:ext cx="1207008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2500" b="1">
                <a:solidFill>
                  <a:srgbClr val="00AEB5"/>
                </a:solidFill>
                <a:latin typeface="Aptos Display"/>
              </a:defRPr>
            </a:pPr>
            <a:r>
              <a:t>Siguiente paso: sesión de arquitectura para cerrar blueprint + piloto.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0" y="7818120"/>
            <a:ext cx="24688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0">
                <a:solidFill>
                  <a:srgbClr val="5B687C"/>
                </a:solidFill>
                <a:latin typeface="Aptos"/>
              </a:defRPr>
            </a:pPr>
            <a:r>
              <a:t>Be Global Commerce OS  ·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25880"/>
            <a:ext cx="123444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No se trata de agregar IA al negocio.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468880"/>
            <a:ext cx="10972800" cy="1234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2500" b="0">
                <a:solidFill>
                  <a:srgbClr val="CBD5E1"/>
                </a:solidFill>
                <a:latin typeface="Aptos"/>
              </a:defRPr>
            </a:pPr>
            <a:r>
              <a:t>Se trata de rediseñar el negocio para que cada oferta, cada alumno, cada conversación y cada venta alimenten un ecosistema que crece más inteligente con el tiempo.</a:t>
            </a:r>
          </a:p>
        </p:txBody>
      </p:sp>
      <p:sp>
        <p:nvSpPr>
          <p:cNvPr id="4" name="Oval 3"/>
          <p:cNvSpPr/>
          <p:nvPr/>
        </p:nvSpPr>
        <p:spPr>
          <a:xfrm>
            <a:off x="1920240" y="5029200"/>
            <a:ext cx="1234440" cy="1234440"/>
          </a:xfrm>
          <a:prstGeom prst="ellipse">
            <a:avLst/>
          </a:prstGeom>
          <a:solidFill>
            <a:srgbClr val="00A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Academy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154680" y="5650992"/>
            <a:ext cx="274320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4526280" y="5029200"/>
            <a:ext cx="1234440" cy="1234440"/>
          </a:xfrm>
          <a:prstGeom prst="ellipse">
            <a:avLst/>
          </a:prstGeom>
          <a:solidFill>
            <a:srgbClr val="76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AI Agents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60720" y="5650992"/>
            <a:ext cx="274320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7132320" y="5029200"/>
            <a:ext cx="1234440" cy="1234440"/>
          </a:xfrm>
          <a:prstGeom prst="ellipse">
            <a:avLst/>
          </a:prstGeom>
          <a:solidFill>
            <a:srgbClr val="40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CRM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366760" y="5650992"/>
            <a:ext cx="274320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9738360" y="5029200"/>
            <a:ext cx="1234440" cy="1234440"/>
          </a:xfrm>
          <a:prstGeom prst="ellipse">
            <a:avLst/>
          </a:prstGeom>
          <a:solidFill>
            <a:srgbClr val="24C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Private Stores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972800" y="5650992"/>
            <a:ext cx="274320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2344400" y="5029200"/>
            <a:ext cx="1234440" cy="1234440"/>
          </a:xfrm>
          <a:prstGeom prst="ellipse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Marketplace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6995160"/>
            <a:ext cx="82296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BE GLOBAL COMMERCE 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7818120"/>
            <a:ext cx="24688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0">
                <a:solidFill>
                  <a:srgbClr val="5B687C"/>
                </a:solidFill>
                <a:latin typeface="Aptos"/>
              </a:defRPr>
            </a:pPr>
            <a:r>
              <a:t>Be Global Commerce OS  · 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