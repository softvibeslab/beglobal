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0">
                <a:solidFill>
                  <a:srgbClr val="F3F8FA"/>
                </a:solidFill>
                <a:latin typeface="Helvetica Neue"/>
              </a:rPr>
              <a:t>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BE GLOBAL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3F8FA"/>
                </a:solidFill>
                <a:latin typeface="Helvetica Neue"/>
              </a:rPr>
              <a:t>Tu guía te espera.</a:t>
            </a:r>
          </a:p>
          <a:p>
            <a:pPr algn="ctr">
              <a:spcAft>
                <a:spcPts val="0"/>
              </a:spcAft>
            </a:pPr>
            <a:r>
              <a:rPr sz="4600" b="1">
                <a:solidFill>
                  <a:srgbClr val="55D6E8"/>
                </a:solidFill>
                <a:latin typeface="Helvetica Neue"/>
              </a:rPr>
              <a:t>Onboarding dinámico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44805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7AEBD"/>
                </a:solidFill>
                <a:latin typeface="Helvetica Neue"/>
              </a:rPr>
              <a:t>La historia de cómo un socio pasa de </a:t>
            </a:r>
            <a:r>
              <a:rPr sz="1700" b="1">
                <a:solidFill>
                  <a:srgbClr val="F3F8FA"/>
                </a:solidFill>
                <a:latin typeface="Helvetica Neue"/>
              </a:rPr>
              <a:t>«no sé por dónde empezar»</a:t>
            </a:r>
            <a:r>
              <a:rPr sz="1700" b="0">
                <a:solidFill>
                  <a:srgbClr val="97AEBD"/>
                </a:solidFill>
                <a:latin typeface="Helvetica Neue"/>
              </a:rPr>
              <a:t> a </a:t>
            </a:r>
            <a:r>
              <a:rPr sz="1700" b="1">
                <a:solidFill>
                  <a:srgbClr val="F3F8FA"/>
                </a:solidFill>
                <a:latin typeface="Helvetica Neue"/>
              </a:rPr>
              <a:t>su primera misión completada</a:t>
            </a:r>
            <a:r>
              <a:rPr sz="1700" b="0">
                <a:solidFill>
                  <a:srgbClr val="97AEBD"/>
                </a:solidFill>
                <a:latin typeface="Helvetica Neue"/>
              </a:rPr>
              <a:t> — conversando, sin tecnicismos.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0">
                <a:solidFill>
                  <a:srgbClr val="F3F8FA"/>
                </a:solidFill>
                <a:latin typeface="Helvetica Neue"/>
              </a:rPr>
              <a:t>👩🏽‍💼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CAPÍTULO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03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F3F8FA"/>
                </a:solidFill>
                <a:latin typeface="Helvetica Neue"/>
              </a:rPr>
              <a:t>Conoce a </a:t>
            </a:r>
            <a:r>
              <a:rPr sz="3800" b="1">
                <a:solidFill>
                  <a:srgbClr val="FFBD66"/>
                </a:solidFill>
                <a:latin typeface="Helvetica Neue"/>
              </a:rPr>
              <a:t>María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7AEBD"/>
                </a:solidFill>
                <a:latin typeface="Helvetica Neue"/>
              </a:rPr>
              <a:t>María es socia de Be Global. Tiene un producto que ama, vio todos los cursos… </a:t>
            </a:r>
            <a:r>
              <a:rPr sz="1600" b="1">
                <a:solidFill>
                  <a:srgbClr val="F3F8FA"/>
                </a:solidFill>
                <a:latin typeface="Helvetica Neue"/>
              </a:rPr>
              <a:t>y aun así está atorada.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4206240"/>
            <a:ext cx="537210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😵‍💫 Demasiado contenido, poca dirección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4206240"/>
            <a:ext cx="537210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🎬 Se atora con guiones y reels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4983480"/>
            <a:ext cx="537210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🛒 Quiere su tienda sin volverse técnica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983480"/>
            <a:ext cx="537210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⏰ Poco tiempo y poca confianza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LO QUE MARÍA REALMENTE QUIERE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3F8FA"/>
                </a:solidFill>
                <a:latin typeface="Helvetica Neue"/>
              </a:rPr>
              <a:t>Pedir con sus palabras.</a:t>
            </a:r>
          </a:p>
          <a:p>
            <a:pPr algn="ctr">
              <a:spcAft>
                <a:spcPts val="0"/>
              </a:spcAft>
            </a:pPr>
            <a:r>
              <a:rPr sz="4000" b="1">
                <a:solidFill>
                  <a:srgbClr val="70D8AA"/>
                </a:solidFill>
                <a:latin typeface="Helvetica Neue"/>
              </a:rPr>
              <a:t>Recibir un camino.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3566160"/>
            <a:ext cx="6492240" cy="1920240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7780">
            <a:solidFill>
              <a:srgbClr val="18A6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379476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3F8FA"/>
                </a:solidFill>
                <a:latin typeface="Helvetica Neue"/>
              </a:rPr>
              <a:t>«Ayúdame a crear mi tienda.»</a:t>
            </a:r>
          </a:p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F3F8FA"/>
                </a:solidFill>
                <a:latin typeface="Helvetica Neue"/>
              </a:rPr>
              <a:t>«Dime qué video debo grabar.»</a:t>
            </a:r>
          </a:p>
          <a:p>
            <a:pPr algn="ctr"/>
            <a:r>
              <a:rPr sz="1300" b="0">
                <a:solidFill>
                  <a:srgbClr val="6C8190"/>
                </a:solidFill>
                <a:latin typeface="Helvetica Neue"/>
              </a:rPr>
              <a:t>Sin aprender MCPs, APIs ni arquitectura de agentes.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600" b="0">
                <a:solidFill>
                  <a:srgbClr val="F3F8FA"/>
                </a:solidFill>
                <a:latin typeface="Helvetica Neue"/>
              </a:rPr>
              <a:t>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CAPÍTULO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F3F8FA"/>
                </a:solidFill>
                <a:latin typeface="Helvetica Neue"/>
              </a:rPr>
              <a:t>Aparece la </a:t>
            </a:r>
            <a:r>
              <a:rPr sz="3800" b="1">
                <a:solidFill>
                  <a:srgbClr val="55D6E8"/>
                </a:solidFill>
                <a:latin typeface="Helvetica Neue"/>
              </a:rPr>
              <a:t>Guía Be Global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79476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7AEBD"/>
                </a:solidFill>
                <a:latin typeface="Helvetica Neue"/>
              </a:rPr>
              <a:t>Un asistente que conoce la metodología, el contenido y las plantillas de Be Global. Y que empieza con </a:t>
            </a:r>
            <a:r>
              <a:rPr sz="1600" b="1">
                <a:solidFill>
                  <a:srgbClr val="F3F8FA"/>
                </a:solidFill>
                <a:latin typeface="Helvetica Neue"/>
              </a:rPr>
              <a:t>una sola pregunta.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TODO COMIENZA ASÍ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3F8FA"/>
                </a:solidFill>
                <a:latin typeface="Helvetica Neue"/>
              </a:rPr>
              <a:t>Una pregunta. </a:t>
            </a:r>
            <a:r>
              <a:rPr sz="3600" b="1">
                <a:solidFill>
                  <a:srgbClr val="55D6E8"/>
                </a:solidFill>
                <a:latin typeface="Helvetica Neue"/>
              </a:rPr>
              <a:t>Tu ruta.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965960"/>
            <a:ext cx="6583680" cy="1051560"/>
          </a:xfrm>
          <a:prstGeom prst="roundRect">
            <a:avLst>
              <a:gd name="adj" fmla="val 22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👋 ¡Hola! Para asignarte la ruta correcta… </a:t>
            </a:r>
            <a:r>
              <a:rPr sz="1300" b="1">
                <a:solidFill>
                  <a:srgbClr val="F3F8FA"/>
                </a:solidFill>
                <a:latin typeface="Helvetica Neue"/>
              </a:rPr>
              <a:t>¿cuál es tu área en Be Global?</a:t>
            </a:r>
            <a:r>
              <a:rPr sz="1300" b="0">
                <a:solidFill>
                  <a:srgbClr val="97AEBD"/>
                </a:solidFill>
                <a:latin typeface="Helvetica Neue"/>
              </a:rPr>
              <a:t>  🏛️ Dirección · 🤝 Equipo · 🚀 Socio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246120"/>
            <a:ext cx="4572000" cy="685800"/>
          </a:xfrm>
          <a:prstGeom prst="roundRect">
            <a:avLst>
              <a:gd name="adj" fmla="val 22000"/>
            </a:avLst>
          </a:prstGeom>
          <a:solidFill>
            <a:srgbClr val="18A6B9"/>
          </a:solidFill>
          <a:ln w="12700">
            <a:solidFill>
              <a:srgbClr val="18A6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 b="0">
                <a:solidFill>
                  <a:srgbClr val="F3F8FA"/>
                </a:solidFill>
                <a:latin typeface="Helvetica Neue"/>
              </a:rPr>
              <a:t>Soy socia 🚀 quiero vender mi producto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4160520"/>
            <a:ext cx="6583680" cy="1051560"/>
          </a:xfrm>
          <a:prstGeom prst="roundRect">
            <a:avLst>
              <a:gd name="adj" fmla="val 22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¡Perfecto, María! Tu ruta es </a:t>
            </a:r>
            <a:r>
              <a:rPr sz="1300" b="1">
                <a:solidFill>
                  <a:srgbClr val="F3F8FA"/>
                </a:solidFill>
                <a:latin typeface="Helvetica Neue"/>
              </a:rPr>
              <a:t>Socio/Miembro</a:t>
            </a:r>
            <a:r>
              <a:rPr sz="1300" b="0">
                <a:solidFill>
                  <a:srgbClr val="97AEBD"/>
                </a:solidFill>
                <a:latin typeface="Helvetica Neue"/>
              </a:rPr>
              <a:t>. Primero: ¿cuánto tiempo tienes esta semana?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486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97AEBD"/>
                </a:solidFill>
                <a:latin typeface="Helvetica Neue"/>
              </a:rPr>
              <a:t>Nada de cuestionarios eternos. Nada de adivinar tu perfil.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CADA QUIEN SU CAMINO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3F8FA"/>
                </a:solidFill>
                <a:latin typeface="Helvetica Neue"/>
              </a:rPr>
              <a:t>Tres perfiles, </a:t>
            </a:r>
            <a:r>
              <a:rPr sz="3600" b="1">
                <a:solidFill>
                  <a:srgbClr val="70D8AA"/>
                </a:solidFill>
                <a:latin typeface="Helvetica Neue"/>
              </a:rPr>
              <a:t>tres experiencias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3383280" cy="283464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55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0">
                <a:solidFill>
                  <a:srgbClr val="F3F8FA"/>
                </a:solidFill>
                <a:latin typeface="Helvetica Neue"/>
              </a:rPr>
              <a:t>🏛️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3F8FA"/>
                </a:solidFill>
                <a:latin typeface="Helvetica Neue"/>
              </a:rPr>
              <a:t>Corporate</a:t>
            </a:r>
          </a:p>
          <a:p>
            <a:pPr algn="ctr"/>
            <a:r>
              <a:rPr sz="1250" b="0">
                <a:solidFill>
                  <a:srgbClr val="97AEBD"/>
                </a:solidFill>
                <a:latin typeface="Helvetica Neue"/>
              </a:rPr>
              <a:t>Define el método, entrena a la Guía y gobierna la experiencia.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057400"/>
            <a:ext cx="3383280" cy="283464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FFB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313432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0">
                <a:solidFill>
                  <a:srgbClr val="F3F8FA"/>
                </a:solidFill>
                <a:latin typeface="Helvetica Neue"/>
              </a:rPr>
              <a:t>🤝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3F8FA"/>
                </a:solidFill>
                <a:latin typeface="Helvetica Neue"/>
              </a:rPr>
              <a:t>Equipo</a:t>
            </a:r>
          </a:p>
          <a:p>
            <a:pPr algn="ctr"/>
            <a:r>
              <a:rPr sz="1250" b="0">
                <a:solidFill>
                  <a:srgbClr val="97AEBD"/>
                </a:solidFill>
                <a:latin typeface="Helvetica Neue"/>
              </a:rPr>
              <a:t>Prueba, documenta y acompaña. Es el puente entre el método y el socio.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7575" y="2057400"/>
            <a:ext cx="3383280" cy="283464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70D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5" y="2313432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0">
                <a:solidFill>
                  <a:srgbClr val="F3F8FA"/>
                </a:solidFill>
                <a:latin typeface="Helvetica Neue"/>
              </a:rPr>
              <a:t>🚀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3F8FA"/>
                </a:solidFill>
                <a:latin typeface="Helvetica Neue"/>
              </a:rPr>
              <a:t>Miembro</a:t>
            </a:r>
          </a:p>
          <a:p>
            <a:pPr algn="ctr"/>
            <a:r>
              <a:rPr sz="1250" b="0">
                <a:solidFill>
                  <a:srgbClr val="97AEBD"/>
                </a:solidFill>
                <a:latin typeface="Helvetica Neue"/>
              </a:rPr>
              <a:t>Vive una experiencia simple y guiada hasta su primera misión.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57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97AEBD"/>
                </a:solidFill>
                <a:latin typeface="Helvetica Neue"/>
              </a:rPr>
              <a:t>Cada uno en su espacio, con sus datos separados. 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CAPÍTULO 3 · EL VIAJE DE MARÍA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3F8FA"/>
                </a:solidFill>
                <a:latin typeface="Helvetica Neue"/>
              </a:rPr>
              <a:t>Cinco pasos hasta </a:t>
            </a:r>
            <a:r>
              <a:rPr sz="3400" b="1">
                <a:solidFill>
                  <a:srgbClr val="55D6E8"/>
                </a:solidFill>
                <a:latin typeface="Helvetica Neue"/>
              </a:rPr>
              <a:t>su primera victoria</a:t>
            </a:r>
          </a:p>
        </p:txBody>
      </p:sp>
      <p:sp>
        <p:nvSpPr>
          <p:cNvPr id="6" name="Oval 5"/>
          <p:cNvSpPr/>
          <p:nvPr/>
        </p:nvSpPr>
        <p:spPr>
          <a:xfrm>
            <a:off x="1257300" y="2286000"/>
            <a:ext cx="914400" cy="9144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55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0">
                <a:solidFill>
                  <a:srgbClr val="F3F8FA"/>
                </a:solidFill>
                <a:latin typeface="Helvetica Neue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3F8FA"/>
                </a:solidFill>
                <a:latin typeface="Helvetica Neue"/>
              </a:rPr>
              <a:t>Precheck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Todo listo para empezar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8336" y="2715768"/>
            <a:ext cx="256032" cy="31750"/>
          </a:xfrm>
          <a:prstGeom prst="rect">
            <a:avLst/>
          </a:prstGeom>
          <a:solidFill>
            <a:srgbClr val="18A6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61004" y="2286000"/>
            <a:ext cx="914400" cy="9144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55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0">
                <a:solidFill>
                  <a:srgbClr val="F3F8FA"/>
                </a:solidFill>
                <a:latin typeface="Helvetica Neue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4" y="33832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3F8FA"/>
                </a:solidFill>
                <a:latin typeface="Helvetica Neue"/>
              </a:rPr>
              <a:t>Intake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Su marca, su producto, su meta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715768"/>
            <a:ext cx="256032" cy="31750"/>
          </a:xfrm>
          <a:prstGeom prst="rect">
            <a:avLst/>
          </a:prstGeom>
          <a:solidFill>
            <a:srgbClr val="18A6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4708" y="2286000"/>
            <a:ext cx="914400" cy="9144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55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0">
                <a:solidFill>
                  <a:srgbClr val="F3F8FA"/>
                </a:solidFill>
                <a:latin typeface="Helvetica Neue"/>
              </a:rPr>
              <a:t>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33832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3F8FA"/>
                </a:solidFill>
                <a:latin typeface="Helvetica Neue"/>
              </a:rPr>
              <a:t>Setup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Conexiones sin dolor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5744" y="2715768"/>
            <a:ext cx="256032" cy="31750"/>
          </a:xfrm>
          <a:prstGeom prst="rect">
            <a:avLst/>
          </a:prstGeom>
          <a:solidFill>
            <a:srgbClr val="18A6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8412" y="2286000"/>
            <a:ext cx="914400" cy="9144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55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0">
                <a:solidFill>
                  <a:srgbClr val="F3F8FA"/>
                </a:solidFill>
                <a:latin typeface="Helvetica Neue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33832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3F8FA"/>
                </a:solidFill>
                <a:latin typeface="Helvetica Neue"/>
              </a:rPr>
              <a:t>Misión 1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Tarea concreta con entregable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9448" y="2715768"/>
            <a:ext cx="256032" cy="31750"/>
          </a:xfrm>
          <a:prstGeom prst="rect">
            <a:avLst/>
          </a:prstGeom>
          <a:solidFill>
            <a:srgbClr val="18A6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2116" y="2286000"/>
            <a:ext cx="914400" cy="914400"/>
          </a:xfrm>
          <a:prstGeom prst="ellipse">
            <a:avLst/>
          </a:prstGeom>
          <a:solidFill>
            <a:srgbClr val="0D1A2A"/>
          </a:solidFill>
          <a:ln w="25400">
            <a:solidFill>
              <a:srgbClr val="70D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0">
                <a:solidFill>
                  <a:srgbClr val="F3F8FA"/>
                </a:solidFill>
                <a:latin typeface="Helvetica Neue"/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616" y="33832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3F8FA"/>
                </a:solidFill>
                <a:latin typeface="Helvetica Neue"/>
              </a:rPr>
              <a:t>¡Logrado!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Evidencia en mano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ASÍ SE SIENTE CADA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F3F8FA"/>
                </a:solidFill>
                <a:latin typeface="Helvetica Neue"/>
              </a:rPr>
              <a:t>Una pregunta a la vez.</a:t>
            </a:r>
          </a:p>
          <a:p>
            <a:pPr algn="ctr">
              <a:spcAft>
                <a:spcPts val="0"/>
              </a:spcAft>
            </a:pPr>
            <a:r>
              <a:rPr sz="3400" b="1">
                <a:solidFill>
                  <a:srgbClr val="55D6E8"/>
                </a:solidFill>
                <a:latin typeface="Helvetica Neue"/>
              </a:rPr>
              <a:t>Máximo 3 acciones.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651760"/>
            <a:ext cx="6583680" cy="1143000"/>
          </a:xfrm>
          <a:prstGeom prst="roundRect">
            <a:avLst>
              <a:gd name="adj" fmla="val 22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 b="1">
                <a:solidFill>
                  <a:srgbClr val="55D6E8"/>
                </a:solidFill>
                <a:latin typeface="Helvetica Neue"/>
              </a:rPr>
              <a:t>RUTA SOCIO · MISIÓN 1 · PASO 2 DE 4
</a:t>
            </a:r>
            <a:r>
              <a:rPr sz="1300" b="0">
                <a:solidFill>
                  <a:srgbClr val="97AEBD"/>
                </a:solidFill>
                <a:latin typeface="Helvetica Neue"/>
              </a:rPr>
              <a:t>Tu guion del reel va tomando forma 🎬 Solo falta: </a:t>
            </a:r>
            <a:r>
              <a:rPr sz="1300" b="1">
                <a:solidFill>
                  <a:srgbClr val="F3F8FA"/>
                </a:solidFill>
                <a:latin typeface="Helvetica Neue"/>
              </a:rPr>
              <a:t>¿cuál es el beneficio #1 de tu producto?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023360"/>
            <a:ext cx="4572000" cy="685800"/>
          </a:xfrm>
          <a:prstGeom prst="roundRect">
            <a:avLst>
              <a:gd name="adj" fmla="val 22000"/>
            </a:avLst>
          </a:prstGeom>
          <a:solidFill>
            <a:srgbClr val="18A6B9"/>
          </a:solidFill>
          <a:ln w="12700">
            <a:solidFill>
              <a:srgbClr val="18A6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 b="0">
                <a:solidFill>
                  <a:srgbClr val="F3F8FA"/>
                </a:solidFill>
                <a:latin typeface="Helvetica Neue"/>
              </a:rPr>
              <a:t>Que es 100% natural y dura todo el día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4937760"/>
            <a:ext cx="6583680" cy="1051560"/>
          </a:xfrm>
          <a:prstGeom prst="roundRect">
            <a:avLst>
              <a:gd name="adj" fmla="val 22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¡Eso es oro! ✨ Aquí está tu guion con plan de tomas. Siguiente acción: </a:t>
            </a:r>
            <a:r>
              <a:rPr sz="1300" b="1">
                <a:solidFill>
                  <a:srgbClr val="F3F8FA"/>
                </a:solidFill>
                <a:latin typeface="Helvetica Neue"/>
              </a:rPr>
              <a:t>grabar la toma 1 (30 seg)</a:t>
            </a:r>
            <a:r>
              <a:rPr sz="1300" b="0">
                <a:solidFill>
                  <a:srgbClr val="97AEBD"/>
                </a:solidFill>
                <a:latin typeface="Helvetica Neue"/>
              </a:rPr>
              <a:t>. ¿La agendamos para mañana?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000" b="0">
                <a:solidFill>
                  <a:srgbClr val="F3F8FA"/>
                </a:solidFill>
                <a:latin typeface="Helvetica Neue"/>
              </a:rPr>
              <a:t>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LA REGLA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F3F8FA"/>
                </a:solidFill>
                <a:latin typeface="Helvetica Neue"/>
              </a:rPr>
              <a:t>Nada se da por hecho.</a:t>
            </a:r>
          </a:p>
          <a:p>
            <a:pPr algn="ctr">
              <a:spcAft>
                <a:spcPts val="0"/>
              </a:spcAft>
            </a:pPr>
            <a:r>
              <a:rPr sz="3400" b="1">
                <a:solidFill>
                  <a:srgbClr val="70D8AA"/>
                </a:solidFill>
                <a:latin typeface="Helvetica Neue"/>
              </a:rPr>
              <a:t>Todo se demuestra.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7AEBD"/>
                </a:solidFill>
                <a:latin typeface="Helvetica Neue"/>
              </a:rPr>
              <a:t>Cada tarea se cierra con </a:t>
            </a:r>
            <a:r>
              <a:rPr sz="1500" b="1">
                <a:solidFill>
                  <a:srgbClr val="F3F8FA"/>
                </a:solidFill>
                <a:latin typeface="Helvetica Neue"/>
              </a:rPr>
              <a:t>responsable, fecha y evidencia real</a:t>
            </a:r>
            <a:r>
              <a:rPr sz="1500" b="0">
                <a:solidFill>
                  <a:srgbClr val="97AEBD"/>
                </a:solidFill>
                <a:latin typeface="Helvetica Neue"/>
              </a:rPr>
              <a:t> — un archivo, un enlace, una captura. Si algo es delicado, </a:t>
            </a:r>
            <a:r>
              <a:rPr sz="1500" b="1">
                <a:solidFill>
                  <a:srgbClr val="F3F8FA"/>
                </a:solidFill>
                <a:latin typeface="Helvetica Neue"/>
              </a:rPr>
              <a:t>una persona lo revisa primero.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4892040"/>
            <a:ext cx="257175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👤 Responsable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9797" y="4892040"/>
            <a:ext cx="257175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📅 Fecha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4892040"/>
            <a:ext cx="257175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📎 Evidencia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0497" y="4892040"/>
            <a:ext cx="257175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97AEBD"/>
                </a:solidFill>
                <a:latin typeface="Helvetica Neue"/>
              </a:rPr>
              <a:t>✅ Criterio de aceptación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DETRÁS DE ESCENA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3F8FA"/>
                </a:solidFill>
                <a:latin typeface="Helvetica Neue"/>
              </a:rPr>
              <a:t>El valor </a:t>
            </a:r>
            <a:r>
              <a:rPr sz="3400" b="1">
                <a:solidFill>
                  <a:srgbClr val="55D6E8"/>
                </a:solidFill>
                <a:latin typeface="Helvetica Neue"/>
              </a:rPr>
              <a:t>sube y baja</a:t>
            </a:r>
            <a:r>
              <a:rPr sz="3400" b="1">
                <a:solidFill>
                  <a:srgbClr val="F3F8FA"/>
                </a:solidFill>
                <a:latin typeface="Helvetica Neue"/>
              </a:rPr>
              <a:t> la escalera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06240"/>
            <a:ext cx="2514600" cy="173736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55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43484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F3F8FA"/>
                </a:solidFill>
                <a:latin typeface="Helvetica Neue"/>
              </a:rPr>
              <a:t>🏛️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3F8FA"/>
                </a:solidFill>
                <a:latin typeface="Helvetica Neue"/>
              </a:rPr>
              <a:t>Corporate define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el método y los límites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3657600"/>
            <a:ext cx="2514600" cy="228600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FFB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88620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F3F8FA"/>
                </a:solidFill>
                <a:latin typeface="Helvetica Neue"/>
              </a:rPr>
              <a:t>🤝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3F8FA"/>
                </a:solidFill>
                <a:latin typeface="Helvetica Neue"/>
              </a:rPr>
              <a:t>Team lo domina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lo prueba y lo documenta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2514600" cy="283464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FFB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33756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F3F8FA"/>
                </a:solidFill>
                <a:latin typeface="Helvetica Neue"/>
              </a:rPr>
              <a:t>🧑‍🏫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3F8FA"/>
                </a:solidFill>
                <a:latin typeface="Helvetica Neue"/>
              </a:rPr>
              <a:t>Team guía al socio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con tareas simples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560320"/>
            <a:ext cx="2514600" cy="338328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70D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78892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F3F8FA"/>
                </a:solidFill>
                <a:latin typeface="Helvetica Neue"/>
              </a:rPr>
              <a:t>📈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3F8FA"/>
                </a:solidFill>
                <a:latin typeface="Helvetica Neue"/>
              </a:rPr>
              <a:t>Los resultados regresan</a:t>
            </a:r>
          </a:p>
          <a:p>
            <a:pPr algn="ctr"/>
            <a:r>
              <a:rPr sz="1150" b="0">
                <a:solidFill>
                  <a:srgbClr val="6C8190"/>
                </a:solidFill>
                <a:latin typeface="Helvetica Neue"/>
              </a:rPr>
              <a:t>para mejorar el método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0">
                <a:solidFill>
                  <a:srgbClr val="F3F8FA"/>
                </a:solidFill>
                <a:latin typeface="Helvetica Neue"/>
              </a:rPr>
              <a:t>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CONFIANZA ANTE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945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3F8FA"/>
                </a:solidFill>
                <a:latin typeface="Helvetica Neue"/>
              </a:rPr>
              <a:t>Tu cuenta es tuya.</a:t>
            </a:r>
          </a:p>
          <a:p>
            <a:pPr algn="ctr">
              <a:spcAft>
                <a:spcPts val="0"/>
              </a:spcAft>
            </a:pPr>
            <a:r>
              <a:rPr sz="3600" b="1">
                <a:solidFill>
                  <a:srgbClr val="55D6E8"/>
                </a:solidFill>
                <a:latin typeface="Helvetica Neue"/>
              </a:rPr>
              <a:t>Punto.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4114800"/>
            <a:ext cx="537210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50" b="0">
                <a:solidFill>
                  <a:srgbClr val="97AEBD"/>
                </a:solidFill>
                <a:latin typeface="Helvetica Neue"/>
              </a:rPr>
              <a:t>🙅 Nunca pide contraseñas ni códigos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4114800"/>
            <a:ext cx="537210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50" b="0">
                <a:solidFill>
                  <a:srgbClr val="97AEBD"/>
                </a:solidFill>
                <a:latin typeface="Helvetica Neue"/>
              </a:rPr>
              <a:t>🔑 Conexiones seguras por OAuth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447" y="4892040"/>
            <a:ext cx="537210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50" b="0">
                <a:solidFill>
                  <a:srgbClr val="97AEBD"/>
                </a:solidFill>
                <a:latin typeface="Helvetica Neue"/>
              </a:rPr>
              <a:t>🧑‍⚖️ Lo sensible pasa por aprobación humana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4892040"/>
            <a:ext cx="5372100" cy="566928"/>
          </a:xfrm>
          <a:prstGeom prst="roundRect">
            <a:avLst>
              <a:gd name="adj" fmla="val 9000"/>
            </a:avLst>
          </a:prstGeom>
          <a:solidFill>
            <a:srgbClr val="101F31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50" b="0">
                <a:solidFill>
                  <a:srgbClr val="97AEBD"/>
                </a:solidFill>
                <a:latin typeface="Helvetica Neue"/>
              </a:rPr>
              <a:t>🚪 Nadie ve los datos de otro miembro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¿CÓMO SABREMOS QUE FUNCIONA?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3F8FA"/>
                </a:solidFill>
                <a:latin typeface="Helvetica Neue"/>
              </a:rPr>
              <a:t>El éxito tiene </a:t>
            </a:r>
            <a:r>
              <a:rPr sz="3600" b="1">
                <a:solidFill>
                  <a:srgbClr val="70D8AA"/>
                </a:solidFill>
                <a:latin typeface="Helvetica Neue"/>
              </a:rPr>
              <a:t>números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400" b="1">
                <a:solidFill>
                  <a:srgbClr val="55D6E8"/>
                </a:solidFill>
                <a:latin typeface="Helvetica Neue"/>
              </a:rPr>
              <a:t>&lt;30 min</a:t>
            </a:r>
          </a:p>
          <a:p>
            <a:pPr algn="ctr"/>
            <a:r>
              <a:rPr sz="1400" b="0">
                <a:solidFill>
                  <a:srgbClr val="97AEBD"/>
                </a:solidFill>
                <a:latin typeface="Helvetica Neue"/>
              </a:rPr>
              <a:t>del onboarding a tu primer resultado útil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103120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514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400" b="1">
                <a:solidFill>
                  <a:srgbClr val="55D6E8"/>
                </a:solidFill>
                <a:latin typeface="Helvetica Neue"/>
              </a:rPr>
              <a:t>80%</a:t>
            </a:r>
          </a:p>
          <a:p>
            <a:pPr algn="ctr"/>
            <a:r>
              <a:rPr sz="1400" b="0">
                <a:solidFill>
                  <a:srgbClr val="97AEBD"/>
                </a:solidFill>
                <a:latin typeface="Helvetica Neue"/>
              </a:rPr>
              <a:t>de diagnósticos de fase correctos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7576" y="2103120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2700">
            <a:solidFill>
              <a:srgbClr val="24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25146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400" b="1">
                <a:solidFill>
                  <a:srgbClr val="55D6E8"/>
                </a:solidFill>
                <a:latin typeface="Helvetica Neue"/>
              </a:rPr>
              <a:t>8/10</a:t>
            </a:r>
          </a:p>
          <a:p>
            <a:pPr algn="ctr"/>
            <a:r>
              <a:rPr sz="1400" b="0">
                <a:solidFill>
                  <a:srgbClr val="97AEBD"/>
                </a:solidFill>
                <a:latin typeface="Helvetica Neue"/>
              </a:rPr>
              <a:t>de satisfacción mínima de los socios piloto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37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97AEBD"/>
                </a:solidFill>
                <a:latin typeface="Helvetica Neue"/>
              </a:rPr>
              <a:t>No basta con que se vea impresionante: tiene que </a:t>
            </a:r>
            <a:r>
              <a:rPr sz="1500" b="1">
                <a:solidFill>
                  <a:srgbClr val="F3F8FA"/>
                </a:solidFill>
                <a:latin typeface="Helvetica Neue"/>
              </a:rPr>
              <a:t>demostrarlo con evidencia.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600" b="0">
                <a:solidFill>
                  <a:srgbClr val="F3F8FA"/>
                </a:solidFill>
                <a:latin typeface="Helvetica Neue"/>
              </a:rPr>
              <a:t>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CAPÍTULO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7744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3F8FA"/>
                </a:solidFill>
                <a:latin typeface="Helvetica Neue"/>
              </a:rPr>
              <a:t>María publicó su reel.</a:t>
            </a:r>
          </a:p>
          <a:p>
            <a:pPr algn="ctr">
              <a:spcAft>
                <a:spcPts val="0"/>
              </a:spcAft>
            </a:pPr>
            <a:r>
              <a:rPr sz="3000" b="1">
                <a:solidFill>
                  <a:srgbClr val="FFBD66"/>
                </a:solidFill>
                <a:latin typeface="Helvetica Neue"/>
              </a:rPr>
              <a:t>Y ya sabe cuál es su siguiente paso.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7AEBD"/>
                </a:solidFill>
                <a:latin typeface="Helvetica Neue"/>
              </a:rPr>
              <a:t>Eso es el onboarding dinámico: no un manual, sino una </a:t>
            </a:r>
            <a:r>
              <a:rPr sz="1600" b="1">
                <a:solidFill>
                  <a:srgbClr val="F3F8FA"/>
                </a:solidFill>
                <a:latin typeface="Helvetica Neue"/>
              </a:rPr>
              <a:t>conversación que te lleva a resultados</a:t>
            </a:r>
            <a:r>
              <a:rPr sz="1600" b="0">
                <a:solidFill>
                  <a:srgbClr val="97AEBD"/>
                </a:solidFill>
                <a:latin typeface="Helvetica Neue"/>
              </a:rPr>
              <a:t> — a ti, a tu equipo y a toda la comunidad.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8190"/>
                </a:solidFill>
              </a:rPr>
              <a:t>● Be Global Pro · Onboarding Dinámico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8190"/>
                </a:solidFill>
              </a:rP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0">
                <a:solidFill>
                  <a:srgbClr val="F3F8FA"/>
                </a:solidFill>
                <a:latin typeface="Helvetica Neue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5D6E8"/>
                </a:solidFill>
                <a:latin typeface="Helvetica Neue"/>
              </a:rPr>
              <a:t>¿Y AHORA?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3F8FA"/>
                </a:solidFill>
                <a:latin typeface="Helvetica Neue"/>
              </a:rPr>
              <a:t>El piloto arranca </a:t>
            </a:r>
            <a:r>
              <a:rPr sz="3400" b="1">
                <a:solidFill>
                  <a:srgbClr val="55D6E8"/>
                </a:solidFill>
                <a:latin typeface="Helvetica Neue"/>
              </a:rPr>
              <a:t>esta semana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3383280" cy="228600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55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0">
                <a:solidFill>
                  <a:srgbClr val="F3F8FA"/>
                </a:solidFill>
                <a:latin typeface="Helvetica Neue"/>
              </a:rPr>
              <a:t>1️⃣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3F8FA"/>
                </a:solidFill>
                <a:latin typeface="Helvetica Neue"/>
              </a:rPr>
              <a:t>Hoy</a:t>
            </a:r>
          </a:p>
          <a:p>
            <a:pPr algn="ctr"/>
            <a:r>
              <a:rPr sz="1250" b="0">
                <a:solidFill>
                  <a:srgbClr val="97AEBD"/>
                </a:solidFill>
                <a:latin typeface="Helvetica Neue"/>
              </a:rPr>
              <a:t>Confirmamos participantes y enviamos el formulario de onboarding.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743200"/>
            <a:ext cx="3383280" cy="228600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FFB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999232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0">
                <a:solidFill>
                  <a:srgbClr val="F3F8FA"/>
                </a:solidFill>
                <a:latin typeface="Helvetica Neue"/>
              </a:rPr>
              <a:t>2️⃣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3F8FA"/>
                </a:solidFill>
                <a:latin typeface="Helvetica Neue"/>
              </a:rPr>
              <a:t>En 48 h</a:t>
            </a:r>
          </a:p>
          <a:p>
            <a:pPr algn="ctr"/>
            <a:r>
              <a:rPr sz="1250" b="0">
                <a:solidFill>
                  <a:srgbClr val="97AEBD"/>
                </a:solidFill>
                <a:latin typeface="Helvetica Neue"/>
              </a:rPr>
              <a:t>Kickoff de 60 min y elegimos el canal (Telegram 💙).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6" y="2743200"/>
            <a:ext cx="3383280" cy="2286000"/>
          </a:xfrm>
          <a:prstGeom prst="roundRect">
            <a:avLst>
              <a:gd name="adj" fmla="val 9000"/>
            </a:avLst>
          </a:prstGeom>
          <a:solidFill>
            <a:srgbClr val="0D1A2A"/>
          </a:solidFill>
          <a:ln w="17780">
            <a:solidFill>
              <a:srgbClr val="70D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2999232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0">
                <a:solidFill>
                  <a:srgbClr val="F3F8FA"/>
                </a:solidFill>
                <a:latin typeface="Helvetica Neue"/>
              </a:rPr>
              <a:t>3️⃣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3F8FA"/>
                </a:solidFill>
                <a:latin typeface="Helvetica Neue"/>
              </a:rPr>
              <a:t>En 72 h</a:t>
            </a:r>
          </a:p>
          <a:p>
            <a:pPr algn="ctr"/>
            <a:r>
              <a:rPr sz="1250" b="0">
                <a:solidFill>
                  <a:srgbClr val="97AEBD"/>
                </a:solidFill>
                <a:latin typeface="Helvetica Neue"/>
              </a:rPr>
              <a:t>El primer perfil vivo y los primeros escenarios probados.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49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97AEBD"/>
                </a:solidFill>
                <a:latin typeface="Helvetica Neue"/>
              </a:rPr>
              <a:t>La Guía te ayuda a ejecutar con claridad. </a:t>
            </a:r>
            <a:r>
              <a:rPr sz="1350" b="1">
                <a:solidFill>
                  <a:srgbClr val="F3F8FA"/>
                </a:solidFill>
                <a:latin typeface="Helvetica Neue"/>
              </a:rPr>
              <a:t>No garantiza ventas ni sustituye la revisión humana.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